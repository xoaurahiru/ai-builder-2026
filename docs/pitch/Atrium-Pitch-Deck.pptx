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6858000" cy="9144000"/>
  <p:embeddedFontLst>
    <p:embeddedFont>
      <p:font typeface="Google Sans Flex SemiBold" panose="020B0503030502040204"/>
      <p:bold r:id="rId22"/>
    </p:embeddedFont>
    <p:embeddedFont>
      <p:font typeface="Google Sans Flex Medium" panose="020B0503030502040204"/>
      <p:regular r:id="rId23"/>
    </p:embeddedFont>
    <p:embeddedFont>
      <p:font typeface="Google Sans Flex" panose="020B0503030502040204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</c:v>
                </c:pt>
              </c:strCache>
            </c:strRef>
          </c:tx>
          <c:spPr>
            <a:solidFill>
              <a:srgbClr val="7C74DB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4B44A6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4B44A6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7C74DB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4B44A6"/>
              </a:solidFill>
              <a:ln>
                <a:noFill/>
              </a:ln>
            </c:spPr>
          </c:dPt>
          <c:dLbls>
            <c:numFmt formatCode="0.0&quot; s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C1B17"/>
                    </a:solidFill>
                    <a:latin typeface="Google Sans Flex Medium" panose="020B050303050204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Explanations (3.2–4.1)</c:v>
                </c:pt>
                <c:pt idx="1">
                  <c:v>Order explanation</c:v>
                </c:pt>
                <c:pt idx="2">
                  <c:v>Fund fit</c:v>
                </c:pt>
                <c:pt idx="3">
                  <c:v>Scenario shocks</c:v>
                </c:pt>
                <c:pt idx="4">
                  <c:v>Copilot</c:v>
                </c:pt>
                <c:pt idx="5">
                  <c:v>Review note (Pro)</c:v>
                </c:pt>
                <c:pt idx="6">
                  <c:v>AML case review (Pro)</c:v>
                </c:pt>
                <c:pt idx="7">
                  <c:v>Call analysis</c:v>
                </c:pt>
                <c:pt idx="8">
                  <c:v>Reconciliation agent</c:v>
                </c:pt>
                <c:pt idx="9">
                  <c:v>Proposal (Pro)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3.6</c:v>
                </c:pt>
                <c:pt idx="1">
                  <c:v>3.8</c:v>
                </c:pt>
                <c:pt idx="2">
                  <c:v>3.6</c:v>
                </c:pt>
                <c:pt idx="3">
                  <c:v>5.8</c:v>
                </c:pt>
                <c:pt idx="4">
                  <c:v>8.7</c:v>
                </c:pt>
                <c:pt idx="5">
                  <c:v>9.3</c:v>
                </c:pt>
                <c:pt idx="6">
                  <c:v>15</c:v>
                </c:pt>
                <c:pt idx="7">
                  <c:v>17.5</c:v>
                </c:pt>
                <c:pt idx="8">
                  <c:v>17.5</c:v>
                </c:pt>
                <c:pt idx="9">
                  <c:v>21.9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EBEAE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1C1B17"/>
                </a:solidFill>
                <a:latin typeface="Google Sans Flex" panose="020B050303050204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"/>
          <c:min val="0"/>
        </c:scaling>
        <c:delete val="0"/>
        <c:axPos val="t"/>
        <c:numFmt formatCode="General" sourceLinked="1"/>
        <c:majorTickMark val="none"/>
        <c:minorTickMark val="none"/>
        <c:tickLblPos val="none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1C1B17"/>
                </a:solidFill>
                <a:latin typeface="Google Sans Flex" panose="020B050303050204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fdfe0f-88a7-454e-a36e-d57ad3eef694}"/>
      </c:ext>
    </c:extLst>
  </c:chart>
  <c:txPr>
    <a:bodyPr/>
    <a:lstStyle/>
    <a:p>
      <a:pPr>
        <a:defRPr lang="en-US" sz="900">
          <a:solidFill>
            <a:srgbClr val="1C1B17"/>
          </a:solidFill>
          <a:latin typeface="Google Sans Flex" panose="020B050303050204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hyperlink" Target="https://atrium-web-tvflgkcdoa-uc.a.run.app" TargetMode="External"/><Relationship Id="rId4" Type="http://schemas.openxmlformats.org/officeDocument/2006/relationships/hyperlink" Target="https://atrium-cup-2026.web.app" TargetMode="External"/><Relationship Id="rId3" Type="http://schemas.openxmlformats.org/officeDocument/2006/relationships/hyperlink" Target="https://github.com/XoAuraHiru/ai-builder-2026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Team Details</a:t>
            </a:r>
            <a:endParaRPr sz="21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500"/>
              <a:buFont typeface="Google Sans Flex" panose="020B0503030502040204"/>
              <a:buAutoNum type="alphaLcPeriod"/>
            </a:pPr>
            <a:r>
              <a:rPr lang="en-GB" sz="150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name: </a:t>
            </a: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Ctrl+Alt+Hiru</a:t>
            </a:r>
            <a:endParaRPr sz="15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500"/>
              <a:buFont typeface="Google Sans Flex" panose="020B0503030502040204"/>
              <a:buAutoNum type="alphaLcPeriod"/>
            </a:pPr>
            <a:r>
              <a:rPr lang="en-GB" sz="150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Team leader name: </a:t>
            </a: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Hirun Chamara</a:t>
            </a:r>
            <a:endParaRPr sz="15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500"/>
              <a:buFont typeface="Google Sans Flex" panose="020B0503030502040204"/>
              <a:buAutoNum type="alphaLcPeriod"/>
            </a:pPr>
            <a:r>
              <a:rPr lang="en-GB" sz="150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Problem Statement: </a:t>
            </a: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BFSI · Intelligent Risk, Fraud &amp; Financial Experiences: </a:t>
            </a:r>
            <a:r>
              <a:rPr sz="15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wealth firms run each client on separate systems, fraud slips through the gaps, and bolted-on AI is a black box.</a:t>
            </a:r>
            <a:endParaRPr sz="1500">
              <a:latin typeface="Google Sans Flex" panose="020B0503030502040204"/>
              <a:ea typeface="Google Sans Flex" panose="020B0503030502040204"/>
              <a:cs typeface="Google Sans Flex" panose="020B0503030502040204"/>
              <a:sym typeface="Google Sans Flex" panose="020B0503030502040204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2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Rounded Rectangle 56"/>
          <p:cNvSpPr/>
          <p:nvPr/>
        </p:nvSpPr>
        <p:spPr>
          <a:xfrm>
            <a:off x="5870448" y="30175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</a:t>
            </a:r>
            <a:endParaRPr sz="1900"/>
          </a:p>
        </p:txBody>
      </p:sp>
      <p:sp>
        <p:nvSpPr>
          <p:cNvPr id="58" name="TextBox 57"/>
          <p:cNvSpPr txBox="1"/>
          <p:nvPr/>
        </p:nvSpPr>
        <p:spPr>
          <a:xfrm>
            <a:off x="6400800" y="2962656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Atrium</a:t>
            </a:r>
            <a:endParaRPr sz="1900"/>
          </a:p>
        </p:txBody>
      </p:sp>
      <p:sp>
        <p:nvSpPr>
          <p:cNvPr id="59" name="TextBox 58"/>
          <p:cNvSpPr txBox="1"/>
          <p:nvPr/>
        </p:nvSpPr>
        <p:spPr>
          <a:xfrm>
            <a:off x="6400800" y="327355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People decide. The AI shows its working.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Brief about the idea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6616" y="1188720"/>
            <a:ext cx="484632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Atrium: </a:t>
            </a:r>
            <a:r>
              <a:rPr sz="18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one AI-native platform for the whole client life of a wealth firm.</a:t>
            </a:r>
            <a:endParaRPr sz="1800"/>
          </a:p>
        </p:txBody>
      </p:sp>
      <p:sp>
        <p:nvSpPr>
          <p:cNvPr id="73" name="Rounded Rectangle 72"/>
          <p:cNvSpPr/>
          <p:nvPr/>
        </p:nvSpPr>
        <p:spPr>
          <a:xfrm>
            <a:off x="356616" y="186537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01  </a:t>
            </a:r>
            <a:r>
              <a:rPr sz="10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Acquire</a:t>
            </a:r>
            <a:endParaRPr sz="1050"/>
          </a:p>
        </p:txBody>
      </p:sp>
      <p:sp>
        <p:nvSpPr>
          <p:cNvPr id="74" name="Rounded Rectangle 73"/>
          <p:cNvSpPr/>
          <p:nvPr/>
        </p:nvSpPr>
        <p:spPr>
          <a:xfrm>
            <a:off x="1609344" y="186537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02  </a:t>
            </a:r>
            <a:r>
              <a:rPr sz="10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Invest</a:t>
            </a:r>
            <a:endParaRPr sz="1050"/>
          </a:p>
        </p:txBody>
      </p:sp>
      <p:cxnSp>
        <p:nvCxnSpPr>
          <p:cNvPr id="75" name="Connector 74"/>
          <p:cNvCxnSpPr/>
          <p:nvPr/>
        </p:nvCxnSpPr>
        <p:spPr>
          <a:xfrm>
            <a:off x="1408176" y="2011680"/>
            <a:ext cx="155448" cy="0"/>
          </a:xfrm>
          <a:prstGeom prst="line">
            <a:avLst/>
          </a:prstGeom>
          <a:ln w="12700">
            <a:solidFill>
              <a:srgbClr val="6F6C62"/>
            </a:solidFill>
            <a:tailEnd type="triangle" w="med" len="med"/>
          </a:ln>
        </p:spPr>
      </p:cxnSp>
      <p:sp>
        <p:nvSpPr>
          <p:cNvPr id="76" name="Rounded Rectangle 75"/>
          <p:cNvSpPr/>
          <p:nvPr/>
        </p:nvSpPr>
        <p:spPr>
          <a:xfrm>
            <a:off x="2862072" y="186537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03  </a:t>
            </a:r>
            <a:r>
              <a:rPr sz="10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Trade</a:t>
            </a:r>
            <a:endParaRPr sz="1050"/>
          </a:p>
        </p:txBody>
      </p:sp>
      <p:cxnSp>
        <p:nvCxnSpPr>
          <p:cNvPr id="77" name="Connector 76"/>
          <p:cNvCxnSpPr/>
          <p:nvPr/>
        </p:nvCxnSpPr>
        <p:spPr>
          <a:xfrm>
            <a:off x="2660904" y="2011680"/>
            <a:ext cx="155448" cy="0"/>
          </a:xfrm>
          <a:prstGeom prst="line">
            <a:avLst/>
          </a:prstGeom>
          <a:ln w="12700">
            <a:solidFill>
              <a:srgbClr val="6F6C62"/>
            </a:solidFill>
            <a:tailEnd type="triangle" w="med" len="med"/>
          </a:ln>
        </p:spPr>
      </p:cxnSp>
      <p:sp>
        <p:nvSpPr>
          <p:cNvPr id="78" name="Rounded Rectangle 77"/>
          <p:cNvSpPr/>
          <p:nvPr/>
        </p:nvSpPr>
        <p:spPr>
          <a:xfrm>
            <a:off x="4114800" y="186537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wrap="square" lIns="36576" tIns="0" rIns="36576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04  </a:t>
            </a:r>
            <a:r>
              <a:rPr sz="10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Operate</a:t>
            </a:r>
            <a:endParaRPr sz="1050"/>
          </a:p>
        </p:txBody>
      </p:sp>
      <p:cxnSp>
        <p:nvCxnSpPr>
          <p:cNvPr id="79" name="Connector 78"/>
          <p:cNvCxnSpPr/>
          <p:nvPr/>
        </p:nvCxnSpPr>
        <p:spPr>
          <a:xfrm>
            <a:off x="3913632" y="2011680"/>
            <a:ext cx="155448" cy="0"/>
          </a:xfrm>
          <a:prstGeom prst="line">
            <a:avLst/>
          </a:prstGeom>
          <a:ln w="12700">
            <a:solidFill>
              <a:srgbClr val="6F6C62"/>
            </a:solidFill>
            <a:tailEnd type="triangle" w="med" len="med"/>
          </a:ln>
        </p:spPr>
      </p:cxnSp>
      <p:sp>
        <p:nvSpPr>
          <p:cNvPr id="80" name="Rounded Rectangle 79"/>
          <p:cNvSpPr/>
          <p:nvPr/>
        </p:nvSpPr>
        <p:spPr>
          <a:xfrm>
            <a:off x="356616" y="2231136"/>
            <a:ext cx="4764024" cy="256032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Govern 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compliance across all four</a:t>
            </a:r>
            <a:endParaRPr sz="1000"/>
          </a:p>
        </p:txBody>
      </p:sp>
      <p:sp>
        <p:nvSpPr>
          <p:cNvPr id="81" name="Oval 80"/>
          <p:cNvSpPr/>
          <p:nvPr/>
        </p:nvSpPr>
        <p:spPr>
          <a:xfrm>
            <a:off x="356616" y="2596896"/>
            <a:ext cx="237744" cy="237744"/>
          </a:xfrm>
          <a:prstGeom prst="ellipse">
            <a:avLst/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4-Point Star 81"/>
          <p:cNvSpPr/>
          <p:nvPr/>
        </p:nvSpPr>
        <p:spPr>
          <a:xfrm>
            <a:off x="408920" y="2649200"/>
            <a:ext cx="133137" cy="133137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" y="259689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Gemini</a:t>
            </a:r>
            <a:r>
              <a:rPr sz="12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works at every stage</a:t>
            </a:r>
            <a:endParaRPr sz="1250"/>
          </a:p>
        </p:txBody>
      </p:sp>
      <p:sp>
        <p:nvSpPr>
          <p:cNvPr id="84" name="Oval 83"/>
          <p:cNvSpPr/>
          <p:nvPr/>
        </p:nvSpPr>
        <p:spPr>
          <a:xfrm>
            <a:off x="356616" y="2889504"/>
            <a:ext cx="237744" cy="237744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" name="Freeform 0"/>
          <p:cNvSpPr/>
          <p:nvPr/>
        </p:nvSpPr>
        <p:spPr>
          <a:xfrm>
            <a:off x="422233" y="2971098"/>
            <a:ext cx="106510" cy="79882"/>
          </a:xfrm>
          <a:custGeom>
            <a:avLst/>
            <a:gdLst/>
            <a:ahLst/>
            <a:cxnLst/>
            <a:rect l="l" t="t" r="r" b="b"/>
            <a:pathLst>
              <a:path w="106510" h="79882">
                <a:moveTo>
                  <a:pt x="0" y="43935"/>
                </a:moveTo>
                <a:lnTo>
                  <a:pt x="39941" y="79882"/>
                </a:lnTo>
                <a:lnTo>
                  <a:pt x="106510" y="0"/>
                </a:lnTo>
              </a:path>
            </a:pathLst>
          </a:custGeom>
          <a:noFill/>
          <a:ln w="20320">
            <a:solidFill>
              <a:srgbClr val="3F81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" y="288950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 person</a:t>
            </a:r>
            <a:r>
              <a:rPr sz="12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makes every decision</a:t>
            </a:r>
            <a:endParaRPr sz="1250"/>
          </a:p>
        </p:txBody>
      </p:sp>
      <p:pic>
        <p:nvPicPr>
          <p:cNvPr id="86" name="Picture 85" descr="public-front-door.png"/>
          <p:cNvPicPr>
            <a:picLocks noChangeAspect="1"/>
          </p:cNvPicPr>
          <p:nvPr/>
        </p:nvPicPr>
        <p:blipFill>
          <a:blip r:embed="rId2"/>
          <a:srcRect l="7500" r="7500" b="21967"/>
          <a:stretch>
            <a:fillRect/>
          </a:stretch>
        </p:blipFill>
        <p:spPr>
          <a:xfrm>
            <a:off x="5440680" y="1207008"/>
            <a:ext cx="3346704" cy="1920240"/>
          </a:xfrm>
          <a:prstGeom prst="roundRect">
            <a:avLst>
              <a:gd name="adj" fmla="val 2857"/>
            </a:avLst>
          </a:prstGeom>
          <a:ln w="9525">
            <a:solidFill>
              <a:srgbClr val="EBEAE4"/>
            </a:solidFill>
          </a:ln>
        </p:spPr>
      </p:pic>
      <p:sp>
        <p:nvSpPr>
          <p:cNvPr id="87" name="Rounded Rectangle 86"/>
          <p:cNvSpPr/>
          <p:nvPr/>
        </p:nvSpPr>
        <p:spPr>
          <a:xfrm>
            <a:off x="356616" y="3291840"/>
            <a:ext cx="2718816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2064" y="3447288"/>
            <a:ext cx="329184" cy="329184"/>
          </a:xfrm>
          <a:prstGeom prst="ellipse">
            <a:avLst/>
          </a:prstGeom>
          <a:solidFill>
            <a:srgbClr val="FD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617666" y="3560264"/>
            <a:ext cx="58990" cy="8848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90" name="Connector 89"/>
          <p:cNvCxnSpPr/>
          <p:nvPr/>
        </p:nvCxnSpPr>
        <p:spPr>
          <a:xfrm>
            <a:off x="676656" y="3560264"/>
            <a:ext cx="58990" cy="8848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91" name="Connector 90"/>
          <p:cNvCxnSpPr/>
          <p:nvPr/>
        </p:nvCxnSpPr>
        <p:spPr>
          <a:xfrm>
            <a:off x="617666" y="3648749"/>
            <a:ext cx="117980" cy="0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593702" y="3624784"/>
            <a:ext cx="47929" cy="47929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52691" y="3536299"/>
            <a:ext cx="47929" cy="47929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11681" y="3624784"/>
            <a:ext cx="47929" cy="47929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41832" y="3447288"/>
            <a:ext cx="198729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One platform, one identity graph</a:t>
            </a:r>
            <a:endParaRPr sz="1200"/>
          </a:p>
        </p:txBody>
      </p:sp>
      <p:sp>
        <p:nvSpPr>
          <p:cNvPr id="96" name="TextBox 95"/>
          <p:cNvSpPr txBox="1"/>
          <p:nvPr/>
        </p:nvSpPr>
        <p:spPr>
          <a:xfrm>
            <a:off x="512064" y="3895344"/>
            <a:ext cx="244449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Leads, portfolios, orders and the ledger share one data model, so a device seen on a fraudulent lead is recognised when it signs in to a client's account.</a:t>
            </a:r>
            <a:endParaRPr sz="1100"/>
          </a:p>
        </p:txBody>
      </p:sp>
      <p:sp>
        <p:nvSpPr>
          <p:cNvPr id="97" name="Rounded Rectangle 96"/>
          <p:cNvSpPr/>
          <p:nvPr/>
        </p:nvSpPr>
        <p:spPr>
          <a:xfrm>
            <a:off x="3212592" y="3291840"/>
            <a:ext cx="2718816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368040" y="3447288"/>
            <a:ext cx="329184" cy="329184"/>
          </a:xfrm>
          <a:prstGeom prst="ellipse">
            <a:avLst/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4-Point Star 98"/>
          <p:cNvSpPr/>
          <p:nvPr/>
        </p:nvSpPr>
        <p:spPr>
          <a:xfrm>
            <a:off x="3440460" y="3519708"/>
            <a:ext cx="184343" cy="184343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97808" y="3447288"/>
            <a:ext cx="198729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AI that shows its working</a:t>
            </a:r>
            <a:endParaRPr sz="1200"/>
          </a:p>
        </p:txBody>
      </p:sp>
      <p:sp>
        <p:nvSpPr>
          <p:cNvPr id="101" name="TextBox 100"/>
          <p:cNvSpPr txBox="1"/>
          <p:nvPr/>
        </p:nvSpPr>
        <p:spPr>
          <a:xfrm>
            <a:off x="3368040" y="3895344"/>
            <a:ext cx="244449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Every dollar and percentage Gemini writes is checked against Atrium's engines; citations are restricted to real evidence; a tripwire stops steered text from closing an alert.</a:t>
            </a:r>
            <a:endParaRPr sz="1100"/>
          </a:p>
        </p:txBody>
      </p:sp>
      <p:sp>
        <p:nvSpPr>
          <p:cNvPr id="102" name="Rounded Rectangle 101"/>
          <p:cNvSpPr/>
          <p:nvPr/>
        </p:nvSpPr>
        <p:spPr>
          <a:xfrm>
            <a:off x="6068568" y="3291840"/>
            <a:ext cx="2718816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224016" y="3447288"/>
            <a:ext cx="329184" cy="329184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6314871" y="3560264"/>
            <a:ext cx="147474" cy="110606"/>
          </a:xfrm>
          <a:custGeom>
            <a:avLst/>
            <a:gdLst/>
            <a:ahLst/>
            <a:cxnLst/>
            <a:rect l="l" t="t" r="r" b="b"/>
            <a:pathLst>
              <a:path w="147474" h="110606">
                <a:moveTo>
                  <a:pt x="0" y="60833"/>
                </a:moveTo>
                <a:lnTo>
                  <a:pt x="55303" y="110606"/>
                </a:lnTo>
                <a:lnTo>
                  <a:pt x="147474" y="0"/>
                </a:lnTo>
              </a:path>
            </a:pathLst>
          </a:custGeom>
          <a:noFill/>
          <a:ln w="20320">
            <a:solidFill>
              <a:srgbClr val="3F81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53784" y="3447288"/>
            <a:ext cx="198729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Governed like a regulated model</a:t>
            </a:r>
            <a:endParaRPr sz="1200"/>
          </a:p>
        </p:txBody>
      </p:sp>
      <p:sp>
        <p:nvSpPr>
          <p:cNvPr id="105" name="TextBox 104"/>
          <p:cNvSpPr txBox="1"/>
          <p:nvPr/>
        </p:nvSpPr>
        <p:spPr>
          <a:xfrm>
            <a:off x="6224016" y="3895344"/>
            <a:ext cx="244449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built-in Model Risk Office: golden tests gate every deploy, a red team attacks the live models, circuit breakers pause what drifts, and every AI decision is logged with its model and cost.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Opportunities</a:t>
            </a:r>
            <a:endParaRPr sz="1600">
              <a:latin typeface="Google Sans Flex SemiBold" panose="020B0503030502040204"/>
              <a:ea typeface="Google Sans Flex SemiBold" panose="020B0503030502040204"/>
              <a:cs typeface="Google Sans Flex SemiBold" panose="020B0503030502040204"/>
              <a:sym typeface="Google Sans Flex SemiBold" panose="020B050303050204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56616" y="1207008"/>
            <a:ext cx="2670048" cy="3730752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21208" y="1389888"/>
            <a:ext cx="237744" cy="237744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</a:t>
            </a:r>
            <a:endParaRPr sz="900"/>
          </a:p>
        </p:txBody>
      </p:sp>
      <p:sp>
        <p:nvSpPr>
          <p:cNvPr id="82" name="TextBox 81"/>
          <p:cNvSpPr txBox="1"/>
          <p:nvPr/>
        </p:nvSpPr>
        <p:spPr>
          <a:xfrm>
            <a:off x="850392" y="13441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How different is it from any of the other existing ideas?</a:t>
            </a:r>
            <a:endParaRPr sz="1200"/>
          </a:p>
        </p:txBody>
      </p:sp>
      <p:cxnSp>
        <p:nvCxnSpPr>
          <p:cNvPr id="83" name="Connector 82"/>
          <p:cNvCxnSpPr/>
          <p:nvPr/>
        </p:nvCxnSpPr>
        <p:spPr>
          <a:xfrm>
            <a:off x="521208" y="1865376"/>
            <a:ext cx="2340864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84" name="Rounded Rectangle 83"/>
          <p:cNvSpPr/>
          <p:nvPr/>
        </p:nvSpPr>
        <p:spPr>
          <a:xfrm>
            <a:off x="3163824" y="1207008"/>
            <a:ext cx="3090672" cy="373075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328416" y="1389888"/>
            <a:ext cx="237744" cy="237744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2</a:t>
            </a:r>
            <a:endParaRPr sz="900"/>
          </a:p>
        </p:txBody>
      </p:sp>
      <p:sp>
        <p:nvSpPr>
          <p:cNvPr id="86" name="TextBox 85"/>
          <p:cNvSpPr txBox="1"/>
          <p:nvPr/>
        </p:nvSpPr>
        <p:spPr>
          <a:xfrm>
            <a:off x="3657600" y="1344168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How will it be able to solve the problem?</a:t>
            </a:r>
            <a:endParaRPr sz="1200"/>
          </a:p>
        </p:txBody>
      </p:sp>
      <p:cxnSp>
        <p:nvCxnSpPr>
          <p:cNvPr id="87" name="Connector 86"/>
          <p:cNvCxnSpPr/>
          <p:nvPr/>
        </p:nvCxnSpPr>
        <p:spPr>
          <a:xfrm>
            <a:off x="3328416" y="1865376"/>
            <a:ext cx="2761488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88" name="Rounded Rectangle 87"/>
          <p:cNvSpPr/>
          <p:nvPr/>
        </p:nvSpPr>
        <p:spPr>
          <a:xfrm>
            <a:off x="6391656" y="1207008"/>
            <a:ext cx="2395728" cy="3730752"/>
          </a:xfrm>
          <a:prstGeom prst="roundRect">
            <a:avLst>
              <a:gd name="adj" fmla="val 4580"/>
            </a:avLst>
          </a:prstGeom>
          <a:solidFill>
            <a:srgbClr val="E0ED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556248" y="1389888"/>
            <a:ext cx="237744" cy="237744"/>
          </a:xfrm>
          <a:prstGeom prst="ellipse">
            <a:avLst/>
          </a:prstGeom>
          <a:solidFill>
            <a:srgbClr val="3F8160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3</a:t>
            </a:r>
            <a:endParaRPr sz="900"/>
          </a:p>
        </p:txBody>
      </p:sp>
      <p:sp>
        <p:nvSpPr>
          <p:cNvPr id="90" name="TextBox 89"/>
          <p:cNvSpPr txBox="1"/>
          <p:nvPr/>
        </p:nvSpPr>
        <p:spPr>
          <a:xfrm>
            <a:off x="6885432" y="134416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USP of the proposed solution</a:t>
            </a:r>
            <a:endParaRPr sz="1200"/>
          </a:p>
        </p:txBody>
      </p:sp>
      <p:cxnSp>
        <p:nvCxnSpPr>
          <p:cNvPr id="91" name="Connector 90"/>
          <p:cNvCxnSpPr/>
          <p:nvPr/>
        </p:nvCxnSpPr>
        <p:spPr>
          <a:xfrm>
            <a:off x="6556248" y="1865376"/>
            <a:ext cx="2066544" cy="0"/>
          </a:xfrm>
          <a:prstGeom prst="line">
            <a:avLst/>
          </a:prstGeom>
          <a:ln w="9525">
            <a:solidFill>
              <a:srgbClr val="C9DDCF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521208" y="1993392"/>
            <a:ext cx="2340864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Today's wealth tech adds AI to one system at a time. Atrium is AI-native across the whole lifecycle, with one identity graph and one decision log, so fraud can't hide in the hand-offs.</a:t>
            </a:r>
            <a:endParaRPr sz="1100"/>
          </a:p>
        </p:txBody>
      </p:sp>
      <p:sp>
        <p:nvSpPr>
          <p:cNvPr id="93" name="TextBox 92"/>
          <p:cNvSpPr txBox="1"/>
          <p:nvPr/>
        </p:nvSpPr>
        <p:spPr>
          <a:xfrm>
            <a:off x="521208" y="3145536"/>
            <a:ext cx="234086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For example</a:t>
            </a:r>
            <a:endParaRPr sz="950"/>
          </a:p>
        </p:txBody>
      </p:sp>
      <p:sp>
        <p:nvSpPr>
          <p:cNvPr id="94" name="Oval 93"/>
          <p:cNvSpPr/>
          <p:nvPr/>
        </p:nvSpPr>
        <p:spPr>
          <a:xfrm>
            <a:off x="521208" y="3429000"/>
            <a:ext cx="237744" cy="237744"/>
          </a:xfrm>
          <a:prstGeom prst="ellipse">
            <a:avLst/>
          </a:prstGeom>
          <a:solidFill>
            <a:srgbClr val="FD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597476" y="3510594"/>
            <a:ext cx="42604" cy="6390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96" name="Connector 95"/>
          <p:cNvCxnSpPr/>
          <p:nvPr/>
        </p:nvCxnSpPr>
        <p:spPr>
          <a:xfrm>
            <a:off x="640080" y="3510594"/>
            <a:ext cx="42604" cy="6390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97" name="Connector 96"/>
          <p:cNvCxnSpPr/>
          <p:nvPr/>
        </p:nvCxnSpPr>
        <p:spPr>
          <a:xfrm>
            <a:off x="597476" y="3574499"/>
            <a:ext cx="85208" cy="0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580169" y="3557192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22772" y="3493286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65376" y="3557192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0392" y="3401568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fraud ring radar across the whole lifecycle</a:t>
            </a:r>
            <a:endParaRPr sz="1050"/>
          </a:p>
        </p:txBody>
      </p:sp>
      <p:sp>
        <p:nvSpPr>
          <p:cNvPr id="102" name="Oval 101"/>
          <p:cNvSpPr/>
          <p:nvPr/>
        </p:nvSpPr>
        <p:spPr>
          <a:xfrm>
            <a:off x="521208" y="3922776"/>
            <a:ext cx="237744" cy="237744"/>
          </a:xfrm>
          <a:prstGeom prst="ellipse">
            <a:avLst/>
          </a:prstGeom>
          <a:solidFill>
            <a:srgbClr val="FD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597476" y="4004370"/>
            <a:ext cx="42604" cy="6390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104" name="Connector 103"/>
          <p:cNvCxnSpPr/>
          <p:nvPr/>
        </p:nvCxnSpPr>
        <p:spPr>
          <a:xfrm>
            <a:off x="640080" y="4004370"/>
            <a:ext cx="42604" cy="63905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105" name="Connector 104"/>
          <p:cNvCxnSpPr/>
          <p:nvPr/>
        </p:nvCxnSpPr>
        <p:spPr>
          <a:xfrm>
            <a:off x="597476" y="4068275"/>
            <a:ext cx="85208" cy="0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580169" y="4050968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22772" y="3987062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65376" y="4050968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0392" y="3895344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Account-takeover detection in the Pre-trade Guardian</a:t>
            </a:r>
            <a:endParaRPr sz="1050"/>
          </a:p>
        </p:txBody>
      </p:sp>
      <p:sp>
        <p:nvSpPr>
          <p:cNvPr id="110" name="Oval 109"/>
          <p:cNvSpPr/>
          <p:nvPr/>
        </p:nvSpPr>
        <p:spPr>
          <a:xfrm>
            <a:off x="521208" y="4416552"/>
            <a:ext cx="237744" cy="237744"/>
          </a:xfrm>
          <a:prstGeom prst="ellipse">
            <a:avLst/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4-Point Star 110"/>
          <p:cNvSpPr/>
          <p:nvPr/>
        </p:nvSpPr>
        <p:spPr>
          <a:xfrm>
            <a:off x="573512" y="4468856"/>
            <a:ext cx="133137" cy="133137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0392" y="4389120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Call intelligence grounded in the transcript, with timestamps</a:t>
            </a:r>
            <a:endParaRPr sz="1050"/>
          </a:p>
        </p:txBody>
      </p:sp>
      <p:sp>
        <p:nvSpPr>
          <p:cNvPr id="113" name="TextBox 112"/>
          <p:cNvSpPr txBox="1"/>
          <p:nvPr/>
        </p:nvSpPr>
        <p:spPr>
          <a:xfrm>
            <a:off x="3328416" y="1993392"/>
            <a:ext cx="2761488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Acquire  </a:t>
            </a: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Leads scored twice (BigQuery ML fit + Trust Score) and identity-proofed with Document AI before an advisor calls.</a:t>
            </a:r>
            <a:endParaRPr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Trade  </a:t>
            </a: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Every order checked before it reaches the market: suitability, concentration, liquidity, account takeover.</a:t>
            </a:r>
            <a:endParaRPr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Operate  </a:t>
            </a: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The back office automated under four-eyes control: Document AI + an ADK agent for reconciliation, approvals with one-time codes.</a:t>
            </a:r>
            <a:endParaRPr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Govern  </a:t>
            </a: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Seven AML scenarios and a BigQuery ML anomaly model, with a Gemini Pro case review citing only evidence.</a:t>
            </a:r>
            <a:endParaRPr sz="1100"/>
          </a:p>
        </p:txBody>
      </p:sp>
      <p:sp>
        <p:nvSpPr>
          <p:cNvPr id="114" name="TextBox 113"/>
          <p:cNvSpPr txBox="1"/>
          <p:nvPr/>
        </p:nvSpPr>
        <p:spPr>
          <a:xfrm>
            <a:off x="6556248" y="1975104"/>
            <a:ext cx="2066544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People decide.</a:t>
            </a:r>
            <a:endParaRPr sz="1700"/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The AI shows its working.</a:t>
            </a:r>
            <a:endParaRPr sz="1700"/>
          </a:p>
        </p:txBody>
      </p:sp>
      <p:sp>
        <p:nvSpPr>
          <p:cNvPr id="115" name="TextBox 114"/>
          <p:cNvSpPr txBox="1"/>
          <p:nvPr/>
        </p:nvSpPr>
        <p:spPr>
          <a:xfrm>
            <a:off x="6556248" y="2852928"/>
            <a:ext cx="2066544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F8160"/>
              </a:buClr>
              <a:buSzPct val="100000"/>
              <a:buFont typeface="Google Sans Flex" panose="020B0503030502040204"/>
              <a:buChar char="•"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Every figure checked against deterministic engines</a:t>
            </a:r>
            <a:endParaRPr sz="1100"/>
          </a:p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F8160"/>
              </a:buClr>
              <a:buSzPct val="100000"/>
              <a:buFont typeface="Google Sans Flex" panose="020B0503030502040204"/>
              <a:buChar char="•"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Model Risk Office with live red-team and fair-lending tests</a:t>
            </a:r>
            <a:endParaRPr sz="1100"/>
          </a:p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F8160"/>
              </a:buClr>
              <a:buSzPct val="100000"/>
              <a:buFont typeface="Google Sans Flex" panose="020B0503030502040204"/>
              <a:buChar char="•"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Real time across every person through Firestore</a:t>
            </a:r>
            <a:endParaRPr sz="1100"/>
          </a:p>
        </p:txBody>
      </p:sp>
      <p:cxnSp>
        <p:nvCxnSpPr>
          <p:cNvPr id="116" name="Connector 115"/>
          <p:cNvCxnSpPr/>
          <p:nvPr/>
        </p:nvCxnSpPr>
        <p:spPr>
          <a:xfrm>
            <a:off x="6556248" y="4224528"/>
            <a:ext cx="2066544" cy="0"/>
          </a:xfrm>
          <a:prstGeom prst="line">
            <a:avLst/>
          </a:prstGeom>
          <a:ln w="9525">
            <a:solidFill>
              <a:srgbClr val="C9DDCF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6556248" y="4297680"/>
            <a:ext cx="206654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Measured live: </a:t>
            </a: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37/37 model-check suites, 29/29 red-team attacks resisted, 18/18 fair-lending pairs</a:t>
            </a:r>
            <a:endParaRPr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List of features offered by the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56616" y="1207008"/>
            <a:ext cx="1613002" cy="3346704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1298448"/>
            <a:ext cx="14301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01  </a:t>
            </a: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Acquire</a:t>
            </a:r>
            <a:endParaRPr sz="1250"/>
          </a:p>
        </p:txBody>
      </p:sp>
      <p:sp>
        <p:nvSpPr>
          <p:cNvPr id="90" name="TextBox 89"/>
          <p:cNvSpPr txBox="1"/>
          <p:nvPr/>
        </p:nvSpPr>
        <p:spPr>
          <a:xfrm>
            <a:off x="457200" y="1545336"/>
            <a:ext cx="143012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Daniel, advisor</a:t>
            </a:r>
            <a:endParaRPr sz="900"/>
          </a:p>
        </p:txBody>
      </p:sp>
      <p:cxnSp>
        <p:nvCxnSpPr>
          <p:cNvPr id="91" name="Connector 90"/>
          <p:cNvCxnSpPr/>
          <p:nvPr/>
        </p:nvCxnSpPr>
        <p:spPr>
          <a:xfrm>
            <a:off x="457200" y="1792224"/>
            <a:ext cx="1411834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457200" y="1865376"/>
            <a:ext cx="1439266" cy="2633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Lead Score + Trust Score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BigQuery ML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fit; fraud signals score trust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Identity proofing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Document AI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Call intelligence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 audio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, timestamped conduct flags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Personalised proposals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 Pro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, cited and checked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Advisor agents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ADK</a:t>
            </a:r>
            <a:endParaRPr sz="900"/>
          </a:p>
        </p:txBody>
      </p:sp>
      <p:sp>
        <p:nvSpPr>
          <p:cNvPr id="93" name="Rounded Rectangle 92"/>
          <p:cNvSpPr/>
          <p:nvPr/>
        </p:nvSpPr>
        <p:spPr>
          <a:xfrm>
            <a:off x="2061058" y="1207008"/>
            <a:ext cx="1613002" cy="3346704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61642" y="1298448"/>
            <a:ext cx="14301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02  </a:t>
            </a: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Invest</a:t>
            </a:r>
            <a:endParaRPr sz="1250"/>
          </a:p>
        </p:txBody>
      </p:sp>
      <p:sp>
        <p:nvSpPr>
          <p:cNvPr id="95" name="TextBox 94"/>
          <p:cNvSpPr txBox="1"/>
          <p:nvPr/>
        </p:nvSpPr>
        <p:spPr>
          <a:xfrm>
            <a:off x="2161642" y="1545336"/>
            <a:ext cx="143012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Priya, Lucas</a:t>
            </a:r>
            <a:endParaRPr sz="900"/>
          </a:p>
        </p:txBody>
      </p:sp>
      <p:cxnSp>
        <p:nvCxnSpPr>
          <p:cNvPr id="96" name="Connector 95"/>
          <p:cNvCxnSpPr/>
          <p:nvPr/>
        </p:nvCxnSpPr>
        <p:spPr>
          <a:xfrm>
            <a:off x="2161642" y="1792224"/>
            <a:ext cx="1411833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2161642" y="1865376"/>
            <a:ext cx="1439266" cy="2633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Risk profile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chosen with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Risk drift and analytics</a:t>
            </a:r>
            <a:endParaRPr sz="10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What-if Studio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10,000 simulated futures;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explains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Portfolio X-ray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look-through to every company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Scenario Studio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+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Google Search grounding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Fund fit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Vertex AI Search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, cited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Investor Copilot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an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ADK agent</a:t>
            </a:r>
            <a:endParaRPr sz="900"/>
          </a:p>
        </p:txBody>
      </p:sp>
      <p:sp>
        <p:nvSpPr>
          <p:cNvPr id="98" name="Rounded Rectangle 97"/>
          <p:cNvSpPr/>
          <p:nvPr/>
        </p:nvSpPr>
        <p:spPr>
          <a:xfrm>
            <a:off x="3765499" y="1207008"/>
            <a:ext cx="1613002" cy="3346704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66083" y="1298448"/>
            <a:ext cx="14301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03  </a:t>
            </a: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Trade</a:t>
            </a:r>
            <a:endParaRPr sz="1250"/>
          </a:p>
        </p:txBody>
      </p:sp>
      <p:sp>
        <p:nvSpPr>
          <p:cNvPr id="100" name="TextBox 99"/>
          <p:cNvSpPr txBox="1"/>
          <p:nvPr/>
        </p:nvSpPr>
        <p:spPr>
          <a:xfrm>
            <a:off x="3866083" y="1545336"/>
            <a:ext cx="143012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Priya, Tom, Daniel</a:t>
            </a:r>
            <a:endParaRPr sz="900"/>
          </a:p>
        </p:txBody>
      </p:sp>
      <p:cxnSp>
        <p:nvCxnSpPr>
          <p:cNvPr id="101" name="Connector 100"/>
          <p:cNvCxnSpPr/>
          <p:nvPr/>
        </p:nvCxnSpPr>
        <p:spPr>
          <a:xfrm>
            <a:off x="3866083" y="1792224"/>
            <a:ext cx="1411834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3866083" y="1865376"/>
            <a:ext cx="1439266" cy="2633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Live US stock and ETF prices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with a paper broker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Pre-trade Guardian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proceed, warn, hold or block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Account-takeover detection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device trust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Held-order queue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 Pro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review note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Live inbox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Cloud Firestore, real time</a:t>
            </a:r>
            <a:endParaRPr sz="900"/>
          </a:p>
        </p:txBody>
      </p:sp>
      <p:sp>
        <p:nvSpPr>
          <p:cNvPr id="103" name="Rounded Rectangle 102"/>
          <p:cNvSpPr/>
          <p:nvPr/>
        </p:nvSpPr>
        <p:spPr>
          <a:xfrm>
            <a:off x="5469941" y="1207008"/>
            <a:ext cx="1613002" cy="3346704"/>
          </a:xfrm>
          <a:prstGeom prst="roundRect">
            <a:avLst>
              <a:gd name="adj" fmla="val 5668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70525" y="1298448"/>
            <a:ext cx="14301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04  </a:t>
            </a: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Operate</a:t>
            </a:r>
            <a:endParaRPr sz="1250"/>
          </a:p>
        </p:txBody>
      </p:sp>
      <p:sp>
        <p:nvSpPr>
          <p:cNvPr id="105" name="TextBox 104"/>
          <p:cNvSpPr txBox="1"/>
          <p:nvPr/>
        </p:nvSpPr>
        <p:spPr>
          <a:xfrm>
            <a:off x="5570525" y="1545336"/>
            <a:ext cx="143012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Mei, Sam</a:t>
            </a:r>
            <a:endParaRPr sz="900"/>
          </a:p>
        </p:txBody>
      </p:sp>
      <p:cxnSp>
        <p:nvCxnSpPr>
          <p:cNvPr id="106" name="Connector 105"/>
          <p:cNvCxnSpPr/>
          <p:nvPr/>
        </p:nvCxnSpPr>
        <p:spPr>
          <a:xfrm>
            <a:off x="5570525" y="1792224"/>
            <a:ext cx="1411833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5570525" y="1865376"/>
            <a:ext cx="1439266" cy="2633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Day-end job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Cloud Run job on Cloud Scheduler;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morning brief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Bank statements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read by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Document AI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Reconciliation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rules + an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ADK agent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Four-eyes approvals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one-time codes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Fund pricing guard</a:t>
            </a:r>
            <a:endParaRPr sz="1000"/>
          </a:p>
        </p:txBody>
      </p:sp>
      <p:sp>
        <p:nvSpPr>
          <p:cNvPr id="108" name="Rounded Rectangle 107"/>
          <p:cNvSpPr/>
          <p:nvPr/>
        </p:nvSpPr>
        <p:spPr>
          <a:xfrm>
            <a:off x="7174382" y="1207008"/>
            <a:ext cx="1613002" cy="3346704"/>
          </a:xfrm>
          <a:prstGeom prst="roundRect">
            <a:avLst>
              <a:gd name="adj" fmla="val 5668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274966" y="1298448"/>
            <a:ext cx="143012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Govern</a:t>
            </a:r>
            <a:endParaRPr sz="1250"/>
          </a:p>
        </p:txBody>
      </p:sp>
      <p:sp>
        <p:nvSpPr>
          <p:cNvPr id="110" name="TextBox 109"/>
          <p:cNvSpPr txBox="1"/>
          <p:nvPr/>
        </p:nvSpPr>
        <p:spPr>
          <a:xfrm>
            <a:off x="7274966" y="1545336"/>
            <a:ext cx="143012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Omar, across all four</a:t>
            </a:r>
            <a:endParaRPr sz="900"/>
          </a:p>
        </p:txBody>
      </p:sp>
      <p:cxnSp>
        <p:nvCxnSpPr>
          <p:cNvPr id="111" name="Connector 110"/>
          <p:cNvCxnSpPr/>
          <p:nvPr/>
        </p:nvCxnSpPr>
        <p:spPr>
          <a:xfrm>
            <a:off x="7274966" y="1792224"/>
            <a:ext cx="1411834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7274966" y="1865376"/>
            <a:ext cx="1439266" cy="2633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AML monitoring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7 scenarios + a </a:t>
            </a: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BigQuery ML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anomaly model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Case review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Gemini Pro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; evidence-only citations and a tripwire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Fraud ring radar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one identity graph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Model Risk Office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18 models: golden tests, red team, fair lending, circuit breakers</a:t>
            </a:r>
            <a:endParaRPr sz="900"/>
          </a:p>
          <a:p>
            <a:pPr algn="l">
              <a:lnSpc>
                <a:spcPct val="9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AI decision log</a:t>
            </a:r>
            <a:endParaRPr sz="1000"/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model, cost, who acted</a:t>
            </a:r>
            <a:endParaRPr sz="900"/>
          </a:p>
        </p:txBody>
      </p:sp>
      <p:sp>
        <p:nvSpPr>
          <p:cNvPr id="113" name="Rounded Rectangle 112"/>
          <p:cNvSpPr/>
          <p:nvPr/>
        </p:nvSpPr>
        <p:spPr>
          <a:xfrm>
            <a:off x="356616" y="4663440"/>
            <a:ext cx="8430768" cy="27432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wrap="square" lIns="182880" tIns="0" rIns="18288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Before sign-in  </a:t>
            </a: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public return analyzer: 10,000 futures drawn from real markets since 2007</a:t>
            </a:r>
            <a:endParaRPr sz="1000"/>
          </a:p>
        </p:txBody>
      </p:sp>
      <p:sp>
        <p:nvSpPr>
          <p:cNvPr id="114" name="TextBox 113"/>
          <p:cNvSpPr txBox="1"/>
          <p:nvPr/>
        </p:nvSpPr>
        <p:spPr>
          <a:xfrm>
            <a:off x="5861304" y="4663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Violet</a:t>
            </a: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: Google AI at work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Process flow diagram or Use-case diagram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96" name="Picture 95" descr="atrium-lifecycle-flow.png"/>
          <p:cNvPicPr>
            <a:picLocks noChangeAspect="1"/>
          </p:cNvPicPr>
          <p:nvPr/>
        </p:nvPicPr>
        <p:blipFill>
          <a:blip r:embed="rId3"/>
          <a:srcRect l="951" t="2185" r="978" b="1311"/>
          <a:stretch>
            <a:fillRect/>
          </a:stretch>
        </p:blipFill>
        <p:spPr>
          <a:xfrm>
            <a:off x="514039" y="1188720"/>
            <a:ext cx="8115921" cy="34747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59759" y="4736592"/>
            <a:ext cx="811592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One client's life, end to end.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Gemini works at every stage; a person makes every decision.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Wireframes/Mock diagrams of the proposed solution (optional)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56616" y="1170432"/>
            <a:ext cx="8430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From lead to ledger 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six real screens from the live prototype, in the order a client meets them</a:t>
            </a:r>
            <a:endParaRPr sz="1100"/>
          </a:p>
        </p:txBody>
      </p:sp>
      <p:pic>
        <p:nvPicPr>
          <p:cNvPr id="105" name="Picture 104" descr="daniel-leads-triage.png"/>
          <p:cNvPicPr>
            <a:picLocks noChangeAspect="1"/>
          </p:cNvPicPr>
          <p:nvPr/>
        </p:nvPicPr>
        <p:blipFill>
          <a:blip r:embed="rId3"/>
          <a:srcRect l="10000" t="28400" r="32500" b="27790"/>
          <a:stretch>
            <a:fillRect/>
          </a:stretch>
        </p:blipFill>
        <p:spPr>
          <a:xfrm>
            <a:off x="356616" y="1536192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06" name="Oval 105"/>
          <p:cNvSpPr/>
          <p:nvPr/>
        </p:nvSpPr>
        <p:spPr>
          <a:xfrm>
            <a:off x="356616" y="2898648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</a:t>
            </a:r>
            <a:endParaRPr sz="900"/>
          </a:p>
        </p:txBody>
      </p:sp>
      <p:sp>
        <p:nvSpPr>
          <p:cNvPr id="107" name="TextBox 106"/>
          <p:cNvSpPr txBox="1"/>
          <p:nvPr/>
        </p:nvSpPr>
        <p:spPr>
          <a:xfrm>
            <a:off x="649224" y="286207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Acquire: leads scored for fit and trust; four from one device are flagged first</a:t>
            </a:r>
            <a:endParaRPr sz="950"/>
          </a:p>
        </p:txBody>
      </p:sp>
      <p:pic>
        <p:nvPicPr>
          <p:cNvPr id="108" name="Picture 107" descr="daniel-ruth-call-transcript.png"/>
          <p:cNvPicPr>
            <a:picLocks noChangeAspect="1"/>
          </p:cNvPicPr>
          <p:nvPr/>
        </p:nvPicPr>
        <p:blipFill>
          <a:blip r:embed="rId4"/>
          <a:srcRect l="10000" t="20960" r="38000" b="39421"/>
          <a:stretch>
            <a:fillRect/>
          </a:stretch>
        </p:blipFill>
        <p:spPr>
          <a:xfrm>
            <a:off x="3227832" y="1536192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09" name="Oval 108"/>
          <p:cNvSpPr/>
          <p:nvPr/>
        </p:nvSpPr>
        <p:spPr>
          <a:xfrm>
            <a:off x="3227832" y="2898648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2</a:t>
            </a:r>
            <a:endParaRPr sz="900"/>
          </a:p>
        </p:txBody>
      </p:sp>
      <p:sp>
        <p:nvSpPr>
          <p:cNvPr id="110" name="TextBox 109"/>
          <p:cNvSpPr txBox="1"/>
          <p:nvPr/>
        </p:nvSpPr>
        <p:spPr>
          <a:xfrm>
            <a:off x="3520440" y="286207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Call intelligence: Gemini hears the call; each conduct flag sits at its second</a:t>
            </a:r>
            <a:endParaRPr sz="950"/>
          </a:p>
        </p:txBody>
      </p:sp>
      <p:pic>
        <p:nvPicPr>
          <p:cNvPr id="111" name="Picture 110" descr="priya-what-if-explained.png"/>
          <p:cNvPicPr>
            <a:picLocks noChangeAspect="1"/>
          </p:cNvPicPr>
          <p:nvPr/>
        </p:nvPicPr>
        <p:blipFill>
          <a:blip r:embed="rId5"/>
          <a:srcRect l="30750" t="9600" r="9000" b="44495"/>
          <a:stretch>
            <a:fillRect/>
          </a:stretch>
        </p:blipFill>
        <p:spPr>
          <a:xfrm>
            <a:off x="6099048" y="1536192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12" name="Oval 111"/>
          <p:cNvSpPr/>
          <p:nvPr/>
        </p:nvSpPr>
        <p:spPr>
          <a:xfrm>
            <a:off x="6099048" y="2898648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3</a:t>
            </a:r>
            <a:endParaRPr sz="900"/>
          </a:p>
        </p:txBody>
      </p:sp>
      <p:sp>
        <p:nvSpPr>
          <p:cNvPr id="113" name="TextBox 112"/>
          <p:cNvSpPr txBox="1"/>
          <p:nvPr/>
        </p:nvSpPr>
        <p:spPr>
          <a:xfrm>
            <a:off x="6391656" y="286207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Invest: 10,000 futures; Gemini explains them, every figure checked</a:t>
            </a:r>
            <a:endParaRPr sz="950"/>
          </a:p>
        </p:txBody>
      </p:sp>
      <p:pic>
        <p:nvPicPr>
          <p:cNvPr id="114" name="Picture 113" descr="daniel-held-review-note.png"/>
          <p:cNvPicPr>
            <a:picLocks noChangeAspect="1"/>
          </p:cNvPicPr>
          <p:nvPr/>
        </p:nvPicPr>
        <p:blipFill>
          <a:blip r:embed="rId6"/>
          <a:srcRect l="54000" t="9200" r="1750" b="57086"/>
          <a:stretch>
            <a:fillRect/>
          </a:stretch>
        </p:blipFill>
        <p:spPr>
          <a:xfrm>
            <a:off x="356616" y="3291840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15" name="Oval 114"/>
          <p:cNvSpPr/>
          <p:nvPr/>
        </p:nvSpPr>
        <p:spPr>
          <a:xfrm>
            <a:off x="356616" y="4654296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4</a:t>
            </a:r>
            <a:endParaRPr sz="900"/>
          </a:p>
        </p:txBody>
      </p:sp>
      <p:sp>
        <p:nvSpPr>
          <p:cNvPr id="116" name="TextBox 115"/>
          <p:cNvSpPr txBox="1"/>
          <p:nvPr/>
        </p:nvSpPr>
        <p:spPr>
          <a:xfrm>
            <a:off x="649224" y="461772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Trade: the Pre-trade Guardian holds an order; Gemini Pro drafts the review note</a:t>
            </a:r>
            <a:endParaRPr sz="950"/>
          </a:p>
        </p:txBody>
      </p:sp>
      <p:pic>
        <p:nvPicPr>
          <p:cNvPr id="117" name="Picture 116" descr="mei-reconciliation-proposals.png"/>
          <p:cNvPicPr>
            <a:picLocks noChangeAspect="1"/>
          </p:cNvPicPr>
          <p:nvPr/>
        </p:nvPicPr>
        <p:blipFill>
          <a:blip r:embed="rId7"/>
          <a:srcRect l="8600" t="7600" r="1750" b="24095"/>
          <a:stretch>
            <a:fillRect/>
          </a:stretch>
        </p:blipFill>
        <p:spPr>
          <a:xfrm>
            <a:off x="3227832" y="3291840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18" name="Oval 117"/>
          <p:cNvSpPr/>
          <p:nvPr/>
        </p:nvSpPr>
        <p:spPr>
          <a:xfrm>
            <a:off x="3227832" y="4654296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5</a:t>
            </a:r>
            <a:endParaRPr sz="900"/>
          </a:p>
        </p:txBody>
      </p:sp>
      <p:sp>
        <p:nvSpPr>
          <p:cNvPr id="119" name="TextBox 118"/>
          <p:cNvSpPr txBox="1"/>
          <p:nvPr/>
        </p:nvSpPr>
        <p:spPr>
          <a:xfrm>
            <a:off x="3520440" y="461772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Operate: the reconciliation agent proposes; a person accepts or rejects</a:t>
            </a:r>
            <a:endParaRPr sz="950"/>
          </a:p>
        </p:txBody>
      </p:sp>
      <p:pic>
        <p:nvPicPr>
          <p:cNvPr id="120" name="Picture 119" descr="omar-alert-structuring-case-review.png"/>
          <p:cNvPicPr>
            <a:picLocks noChangeAspect="1"/>
          </p:cNvPicPr>
          <p:nvPr/>
        </p:nvPicPr>
        <p:blipFill>
          <a:blip r:embed="rId8"/>
          <a:srcRect l="9000" t="3200" r="39500" b="57562"/>
          <a:stretch>
            <a:fillRect/>
          </a:stretch>
        </p:blipFill>
        <p:spPr>
          <a:xfrm>
            <a:off x="6099048" y="3291840"/>
            <a:ext cx="2688336" cy="1280160"/>
          </a:xfrm>
          <a:prstGeom prst="roundRect">
            <a:avLst>
              <a:gd name="adj" fmla="val 4285"/>
            </a:avLst>
          </a:prstGeom>
          <a:ln w="9525">
            <a:solidFill>
              <a:srgbClr val="EBEAE4"/>
            </a:solidFill>
          </a:ln>
        </p:spPr>
      </p:pic>
      <p:sp>
        <p:nvSpPr>
          <p:cNvPr id="121" name="Oval 120"/>
          <p:cNvSpPr/>
          <p:nvPr/>
        </p:nvSpPr>
        <p:spPr>
          <a:xfrm>
            <a:off x="6099048" y="4654296"/>
            <a:ext cx="219456" cy="219456"/>
          </a:xfrm>
          <a:prstGeom prst="ellipse">
            <a:avLst/>
          </a:prstGeom>
          <a:solidFill>
            <a:srgbClr val="1C1B1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6</a:t>
            </a:r>
            <a:endParaRPr sz="900"/>
          </a:p>
        </p:txBody>
      </p:sp>
      <p:sp>
        <p:nvSpPr>
          <p:cNvPr id="122" name="TextBox 121"/>
          <p:cNvSpPr txBox="1"/>
          <p:nvPr/>
        </p:nvSpPr>
        <p:spPr>
          <a:xfrm>
            <a:off x="6391656" y="461772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Govern: Gemini Pro reviews the AML case, citing only the evidence</a:t>
            </a:r>
            <a:endParaRPr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Architecture diagram of the proposed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112" name="Picture 111" descr="atrium-architecture.png"/>
          <p:cNvPicPr>
            <a:picLocks noChangeAspect="1"/>
          </p:cNvPicPr>
          <p:nvPr/>
        </p:nvPicPr>
        <p:blipFill>
          <a:blip r:embed="rId3"/>
          <a:srcRect l="951" t="1186" r="1005" b="1373"/>
          <a:stretch>
            <a:fillRect/>
          </a:stretch>
        </p:blipFill>
        <p:spPr>
          <a:xfrm>
            <a:off x="554146" y="1188720"/>
            <a:ext cx="8035707" cy="347472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99866" y="4736592"/>
            <a:ext cx="8035707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Everything runs in Google Cloud project </a:t>
            </a: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atrium-cup-2026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, </a:t>
            </a: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us-central1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. Numbers trace a request; letters trace the live inbox.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Technologies to be used in the solution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56616" y="1207008"/>
            <a:ext cx="8430768" cy="1024128"/>
          </a:xfrm>
          <a:prstGeom prst="roundRect">
            <a:avLst>
              <a:gd name="adj" fmla="val 10714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" y="1316736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The brief's stack,</a:t>
            </a:r>
            <a:endParaRPr sz="125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all in production</a:t>
            </a:r>
            <a:endParaRPr sz="1250"/>
          </a:p>
        </p:txBody>
      </p:sp>
      <p:sp>
        <p:nvSpPr>
          <p:cNvPr id="122" name="Rounded Rectangle 121"/>
          <p:cNvSpPr/>
          <p:nvPr/>
        </p:nvSpPr>
        <p:spPr>
          <a:xfrm>
            <a:off x="2231136" y="1316736"/>
            <a:ext cx="1543050" cy="804672"/>
          </a:xfrm>
          <a:prstGeom prst="roundRect">
            <a:avLst>
              <a:gd name="adj" fmla="val 10227"/>
            </a:avLst>
          </a:prstGeom>
          <a:solidFill>
            <a:srgbClr val="FCF3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68296" y="1463040"/>
            <a:ext cx="118872" cy="118872"/>
          </a:xfrm>
          <a:prstGeom prst="ellipse">
            <a:avLst/>
          </a:prstGeom>
          <a:solidFill>
            <a:srgbClr val="E2B2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578608" y="1389888"/>
            <a:ext cx="110413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Firebase</a:t>
            </a:r>
            <a:endParaRPr sz="1100"/>
          </a:p>
        </p:txBody>
      </p:sp>
      <p:sp>
        <p:nvSpPr>
          <p:cNvPr id="125" name="TextBox 124"/>
          <p:cNvSpPr txBox="1"/>
          <p:nvPr/>
        </p:nvSpPr>
        <p:spPr>
          <a:xfrm>
            <a:off x="2350008" y="1636776"/>
            <a:ext cx="132359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Hosting front door + Auth custom tokens</a:t>
            </a:r>
            <a:endParaRPr sz="950"/>
          </a:p>
        </p:txBody>
      </p:sp>
      <p:sp>
        <p:nvSpPr>
          <p:cNvPr id="126" name="Rounded Rectangle 125"/>
          <p:cNvSpPr/>
          <p:nvPr/>
        </p:nvSpPr>
        <p:spPr>
          <a:xfrm>
            <a:off x="3865626" y="1316736"/>
            <a:ext cx="1543050" cy="804672"/>
          </a:xfrm>
          <a:prstGeom prst="roundRect">
            <a:avLst>
              <a:gd name="adj" fmla="val 10227"/>
            </a:avLst>
          </a:prstGeom>
          <a:solidFill>
            <a:srgbClr val="FCF3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002786" y="1463040"/>
            <a:ext cx="118872" cy="118872"/>
          </a:xfrm>
          <a:prstGeom prst="ellipse">
            <a:avLst/>
          </a:prstGeom>
          <a:solidFill>
            <a:srgbClr val="E2B2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13098" y="1389888"/>
            <a:ext cx="110413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Cloud Firestore</a:t>
            </a:r>
            <a:endParaRPr sz="1100"/>
          </a:p>
        </p:txBody>
      </p:sp>
      <p:sp>
        <p:nvSpPr>
          <p:cNvPr id="129" name="TextBox 128"/>
          <p:cNvSpPr txBox="1"/>
          <p:nvPr/>
        </p:nvSpPr>
        <p:spPr>
          <a:xfrm>
            <a:off x="3984498" y="1636776"/>
            <a:ext cx="132359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Live inbox: real-time onSnapshot with security rules</a:t>
            </a:r>
            <a:endParaRPr sz="950"/>
          </a:p>
        </p:txBody>
      </p:sp>
      <p:sp>
        <p:nvSpPr>
          <p:cNvPr id="130" name="Rounded Rectangle 129"/>
          <p:cNvSpPr/>
          <p:nvPr/>
        </p:nvSpPr>
        <p:spPr>
          <a:xfrm>
            <a:off x="5500116" y="1316736"/>
            <a:ext cx="154305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637276" y="1463040"/>
            <a:ext cx="118872" cy="118872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847588" y="1389888"/>
            <a:ext cx="110413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Cloud Run</a:t>
            </a:r>
            <a:endParaRPr sz="1100"/>
          </a:p>
        </p:txBody>
      </p:sp>
      <p:sp>
        <p:nvSpPr>
          <p:cNvPr id="133" name="TextBox 132"/>
          <p:cNvSpPr txBox="1"/>
          <p:nvPr/>
        </p:nvSpPr>
        <p:spPr>
          <a:xfrm>
            <a:off x="5618988" y="1636776"/>
            <a:ext cx="132359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Web app, API, day-end and evals jobs</a:t>
            </a:r>
            <a:endParaRPr sz="950"/>
          </a:p>
        </p:txBody>
      </p:sp>
      <p:sp>
        <p:nvSpPr>
          <p:cNvPr id="134" name="Rounded Rectangle 133"/>
          <p:cNvSpPr/>
          <p:nvPr/>
        </p:nvSpPr>
        <p:spPr>
          <a:xfrm>
            <a:off x="7134606" y="1316736"/>
            <a:ext cx="1543050" cy="804672"/>
          </a:xfrm>
          <a:prstGeom prst="roundRect">
            <a:avLst>
              <a:gd name="adj" fmla="val 10227"/>
            </a:avLst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4-Point Star 134"/>
          <p:cNvSpPr/>
          <p:nvPr/>
        </p:nvSpPr>
        <p:spPr>
          <a:xfrm>
            <a:off x="7253478" y="1435608"/>
            <a:ext cx="155448" cy="155448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482078" y="1389888"/>
            <a:ext cx="110413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Gemini</a:t>
            </a:r>
            <a:endParaRPr sz="1100"/>
          </a:p>
        </p:txBody>
      </p:sp>
      <p:sp>
        <p:nvSpPr>
          <p:cNvPr id="137" name="TextBox 136"/>
          <p:cNvSpPr txBox="1"/>
          <p:nvPr/>
        </p:nvSpPr>
        <p:spPr>
          <a:xfrm>
            <a:off x="7253478" y="1636776"/>
            <a:ext cx="132359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3.1 Pro and 3.8 Flash on Vertex AI</a:t>
            </a:r>
            <a:endParaRPr sz="950"/>
          </a:p>
        </p:txBody>
      </p:sp>
      <p:sp>
        <p:nvSpPr>
          <p:cNvPr id="138" name="Rounded Rectangle 137"/>
          <p:cNvSpPr/>
          <p:nvPr/>
        </p:nvSpPr>
        <p:spPr>
          <a:xfrm>
            <a:off x="356616" y="2359152"/>
            <a:ext cx="414680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21208" y="2450592"/>
            <a:ext cx="38176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Google Cloud AI</a:t>
            </a:r>
            <a:endParaRPr sz="1150"/>
          </a:p>
        </p:txBody>
      </p:sp>
      <p:cxnSp>
        <p:nvCxnSpPr>
          <p:cNvPr id="140" name="Connector 139"/>
          <p:cNvCxnSpPr/>
          <p:nvPr/>
        </p:nvCxnSpPr>
        <p:spPr>
          <a:xfrm>
            <a:off x="521208" y="276148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1" name="TextBox 140"/>
          <p:cNvSpPr txBox="1"/>
          <p:nvPr/>
        </p:nvSpPr>
        <p:spPr>
          <a:xfrm>
            <a:off x="521208" y="2788920"/>
            <a:ext cx="1408176" cy="5105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Gemini on Vertex AI</a:t>
            </a:r>
            <a:endParaRPr sz="1000"/>
          </a:p>
        </p:txBody>
      </p:sp>
      <p:sp>
        <p:nvSpPr>
          <p:cNvPr id="142" name="TextBox 141"/>
          <p:cNvSpPr txBox="1"/>
          <p:nvPr/>
        </p:nvSpPr>
        <p:spPr>
          <a:xfrm>
            <a:off x="2002536" y="2788920"/>
            <a:ext cx="2336292" cy="5105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explanations, proposals, case reviews, call audio, Google Search grounding, TTS for demo calls</a:t>
            </a:r>
            <a:endParaRPr sz="1000"/>
          </a:p>
        </p:txBody>
      </p:sp>
      <p:cxnSp>
        <p:nvCxnSpPr>
          <p:cNvPr id="143" name="Connector 142"/>
          <p:cNvCxnSpPr/>
          <p:nvPr/>
        </p:nvCxnSpPr>
        <p:spPr>
          <a:xfrm>
            <a:off x="521208" y="3326892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4" name="TextBox 143"/>
          <p:cNvSpPr txBox="1"/>
          <p:nvPr/>
        </p:nvSpPr>
        <p:spPr>
          <a:xfrm>
            <a:off x="521208" y="3354324"/>
            <a:ext cx="1408176" cy="5105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Agent Development Kit</a:t>
            </a:r>
            <a:endParaRPr sz="1000"/>
          </a:p>
        </p:txBody>
      </p:sp>
      <p:sp>
        <p:nvSpPr>
          <p:cNvPr id="145" name="TextBox 144"/>
          <p:cNvSpPr txBox="1"/>
          <p:nvPr/>
        </p:nvSpPr>
        <p:spPr>
          <a:xfrm>
            <a:off x="2002536" y="3354324"/>
            <a:ext cx="2336292" cy="5105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Investor Copilot, reconciliation agent, advisor concierge with lead-intelligence and trust-and-fraud sub-agents</a:t>
            </a:r>
            <a:endParaRPr sz="1000"/>
          </a:p>
        </p:txBody>
      </p:sp>
      <p:cxnSp>
        <p:nvCxnSpPr>
          <p:cNvPr id="146" name="Connector 145"/>
          <p:cNvCxnSpPr/>
          <p:nvPr/>
        </p:nvCxnSpPr>
        <p:spPr>
          <a:xfrm>
            <a:off x="521208" y="3892296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7" name="TextBox 146"/>
          <p:cNvSpPr txBox="1"/>
          <p:nvPr/>
        </p:nvSpPr>
        <p:spPr>
          <a:xfrm>
            <a:off x="521208" y="3919728"/>
            <a:ext cx="1408176" cy="2209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Document AI</a:t>
            </a:r>
            <a:endParaRPr sz="1000"/>
          </a:p>
        </p:txBody>
      </p:sp>
      <p:sp>
        <p:nvSpPr>
          <p:cNvPr id="148" name="TextBox 147"/>
          <p:cNvSpPr txBox="1"/>
          <p:nvPr/>
        </p:nvSpPr>
        <p:spPr>
          <a:xfrm>
            <a:off x="2002536" y="3919728"/>
            <a:ext cx="2336292" cy="2209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identity proofing, bank statement parser</a:t>
            </a:r>
            <a:endParaRPr sz="1000"/>
          </a:p>
        </p:txBody>
      </p:sp>
      <p:cxnSp>
        <p:nvCxnSpPr>
          <p:cNvPr id="149" name="Connector 148"/>
          <p:cNvCxnSpPr/>
          <p:nvPr/>
        </p:nvCxnSpPr>
        <p:spPr>
          <a:xfrm>
            <a:off x="521208" y="4168140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0" name="TextBox 149"/>
          <p:cNvSpPr txBox="1"/>
          <p:nvPr/>
        </p:nvSpPr>
        <p:spPr>
          <a:xfrm>
            <a:off x="521208" y="4195572"/>
            <a:ext cx="1408176" cy="2209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Vertex AI Search</a:t>
            </a:r>
            <a:endParaRPr sz="1000"/>
          </a:p>
        </p:txBody>
      </p:sp>
      <p:sp>
        <p:nvSpPr>
          <p:cNvPr id="151" name="TextBox 150"/>
          <p:cNvSpPr txBox="1"/>
          <p:nvPr/>
        </p:nvSpPr>
        <p:spPr>
          <a:xfrm>
            <a:off x="2002536" y="4195572"/>
            <a:ext cx="2336292" cy="2209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fund documents</a:t>
            </a:r>
            <a:endParaRPr sz="1000"/>
          </a:p>
        </p:txBody>
      </p:sp>
      <p:cxnSp>
        <p:nvCxnSpPr>
          <p:cNvPr id="152" name="Connector 151"/>
          <p:cNvCxnSpPr/>
          <p:nvPr/>
        </p:nvCxnSpPr>
        <p:spPr>
          <a:xfrm>
            <a:off x="521208" y="4443984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3" name="TextBox 152"/>
          <p:cNvSpPr txBox="1"/>
          <p:nvPr/>
        </p:nvSpPr>
        <p:spPr>
          <a:xfrm>
            <a:off x="521208" y="4471416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BigQuery + BigQuery ML</a:t>
            </a:r>
            <a:endParaRPr sz="1000"/>
          </a:p>
        </p:txBody>
      </p:sp>
      <p:sp>
        <p:nvSpPr>
          <p:cNvPr id="154" name="TextBox 153"/>
          <p:cNvSpPr txBox="1"/>
          <p:nvPr/>
        </p:nvSpPr>
        <p:spPr>
          <a:xfrm>
            <a:off x="2002536" y="4471416"/>
            <a:ext cx="23362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Lead Score model, AML k-means anomaly model, events</a:t>
            </a:r>
            <a:endParaRPr sz="1000"/>
          </a:p>
        </p:txBody>
      </p:sp>
      <p:sp>
        <p:nvSpPr>
          <p:cNvPr id="155" name="Rounded Rectangle 154"/>
          <p:cNvSpPr/>
          <p:nvPr/>
        </p:nvSpPr>
        <p:spPr>
          <a:xfrm>
            <a:off x="4640580" y="2359152"/>
            <a:ext cx="4146804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805172" y="2450592"/>
            <a:ext cx="38176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Data, platform and the app</a:t>
            </a:r>
            <a:endParaRPr sz="1150"/>
          </a:p>
        </p:txBody>
      </p:sp>
      <p:cxnSp>
        <p:nvCxnSpPr>
          <p:cNvPr id="157" name="Connector 156"/>
          <p:cNvCxnSpPr/>
          <p:nvPr/>
        </p:nvCxnSpPr>
        <p:spPr>
          <a:xfrm>
            <a:off x="4805172" y="276148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8" name="TextBox 157"/>
          <p:cNvSpPr txBox="1"/>
          <p:nvPr/>
        </p:nvSpPr>
        <p:spPr>
          <a:xfrm>
            <a:off x="4805172" y="2788920"/>
            <a:ext cx="1408176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Cloud SQL for PostgreSQL</a:t>
            </a:r>
            <a:endParaRPr sz="1000"/>
          </a:p>
        </p:txBody>
      </p:sp>
      <p:sp>
        <p:nvSpPr>
          <p:cNvPr id="159" name="TextBox 158"/>
          <p:cNvSpPr txBox="1"/>
          <p:nvPr/>
        </p:nvSpPr>
        <p:spPr>
          <a:xfrm>
            <a:off x="6286500" y="2788920"/>
            <a:ext cx="2336292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the ledger and every record</a:t>
            </a:r>
            <a:endParaRPr sz="1000"/>
          </a:p>
        </p:txBody>
      </p:sp>
      <p:cxnSp>
        <p:nvCxnSpPr>
          <p:cNvPr id="160" name="Connector 159"/>
          <p:cNvCxnSpPr/>
          <p:nvPr/>
        </p:nvCxnSpPr>
        <p:spPr>
          <a:xfrm>
            <a:off x="4805172" y="321106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1" name="TextBox 160"/>
          <p:cNvSpPr txBox="1"/>
          <p:nvPr/>
        </p:nvSpPr>
        <p:spPr>
          <a:xfrm>
            <a:off x="4805172" y="3238500"/>
            <a:ext cx="1408176" cy="249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Pub/Sub</a:t>
            </a:r>
            <a:endParaRPr sz="1000"/>
          </a:p>
        </p:txBody>
      </p:sp>
      <p:sp>
        <p:nvSpPr>
          <p:cNvPr id="162" name="TextBox 161"/>
          <p:cNvSpPr txBox="1"/>
          <p:nvPr/>
        </p:nvSpPr>
        <p:spPr>
          <a:xfrm>
            <a:off x="6286500" y="3238500"/>
            <a:ext cx="2336292" cy="249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event stream to BigQuery</a:t>
            </a:r>
            <a:endParaRPr sz="1000"/>
          </a:p>
        </p:txBody>
      </p:sp>
      <p:cxnSp>
        <p:nvCxnSpPr>
          <p:cNvPr id="163" name="Connector 162"/>
          <p:cNvCxnSpPr/>
          <p:nvPr/>
        </p:nvCxnSpPr>
        <p:spPr>
          <a:xfrm>
            <a:off x="4805172" y="351586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4" name="TextBox 163"/>
          <p:cNvSpPr txBox="1"/>
          <p:nvPr/>
        </p:nvSpPr>
        <p:spPr>
          <a:xfrm>
            <a:off x="4805172" y="3543300"/>
            <a:ext cx="1408176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Platform</a:t>
            </a:r>
            <a:endParaRPr sz="1000"/>
          </a:p>
        </p:txBody>
      </p:sp>
      <p:sp>
        <p:nvSpPr>
          <p:cNvPr id="165" name="TextBox 164"/>
          <p:cNvSpPr txBox="1"/>
          <p:nvPr/>
        </p:nvSpPr>
        <p:spPr>
          <a:xfrm>
            <a:off x="6286500" y="3543300"/>
            <a:ext cx="2336292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Cloud Storage, Cloud Scheduler, Secret Manager, Cloud Build + Artifact Registry</a:t>
            </a:r>
            <a:endParaRPr sz="1000"/>
          </a:p>
        </p:txBody>
      </p:sp>
      <p:cxnSp>
        <p:nvCxnSpPr>
          <p:cNvPr id="166" name="Connector 165"/>
          <p:cNvCxnSpPr/>
          <p:nvPr/>
        </p:nvCxnSpPr>
        <p:spPr>
          <a:xfrm>
            <a:off x="4805172" y="396544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7" name="TextBox 166"/>
          <p:cNvSpPr txBox="1"/>
          <p:nvPr/>
        </p:nvSpPr>
        <p:spPr>
          <a:xfrm>
            <a:off x="4805172" y="3992880"/>
            <a:ext cx="1408176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Web app</a:t>
            </a:r>
            <a:endParaRPr sz="1000"/>
          </a:p>
        </p:txBody>
      </p:sp>
      <p:sp>
        <p:nvSpPr>
          <p:cNvPr id="168" name="TextBox 167"/>
          <p:cNvSpPr txBox="1"/>
          <p:nvPr/>
        </p:nvSpPr>
        <p:spPr>
          <a:xfrm>
            <a:off x="6286500" y="3992880"/>
            <a:ext cx="2336292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Next.js 15, React, Tailwind CSS v4, Motion</a:t>
            </a:r>
            <a:endParaRPr sz="1000"/>
          </a:p>
        </p:txBody>
      </p:sp>
      <p:cxnSp>
        <p:nvCxnSpPr>
          <p:cNvPr id="169" name="Connector 168"/>
          <p:cNvCxnSpPr/>
          <p:nvPr/>
        </p:nvCxnSpPr>
        <p:spPr>
          <a:xfrm>
            <a:off x="4805172" y="4415028"/>
            <a:ext cx="381762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70" name="TextBox 169"/>
          <p:cNvSpPr txBox="1"/>
          <p:nvPr/>
        </p:nvSpPr>
        <p:spPr>
          <a:xfrm>
            <a:off x="4805172" y="4442460"/>
            <a:ext cx="1408176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API</a:t>
            </a:r>
            <a:endParaRPr sz="1000"/>
          </a:p>
        </p:txBody>
      </p:sp>
      <p:sp>
        <p:nvSpPr>
          <p:cNvPr id="171" name="TextBox 170"/>
          <p:cNvSpPr txBox="1"/>
          <p:nvPr/>
        </p:nvSpPr>
        <p:spPr>
          <a:xfrm>
            <a:off x="6286500" y="4442460"/>
            <a:ext cx="2336292" cy="3947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FastAPI, SQLAlchemy, pandas/NumPy (Monte Carlo engine), pyotp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Estimated implementation cost (optional)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56616" y="1207008"/>
            <a:ext cx="1783080" cy="3730752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02920" y="137160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0EDE4"/>
          </a:solidFill>
          <a:ln>
            <a:noFill/>
          </a:ln>
          <a:effectLst/>
        </p:spPr>
        <p:txBody>
          <a:bodyPr wrap="square" lIns="54864" tIns="0" rIns="54864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Measured</a:t>
            </a:r>
            <a:endParaRPr sz="900"/>
          </a:p>
        </p:txBody>
      </p:sp>
      <p:sp>
        <p:nvSpPr>
          <p:cNvPr id="130" name="TextBox 129"/>
          <p:cNvSpPr txBox="1"/>
          <p:nvPr/>
        </p:nvSpPr>
        <p:spPr>
          <a:xfrm>
            <a:off x="502920" y="1664208"/>
            <a:ext cx="1490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Deployed prototype</a:t>
            </a:r>
            <a:endParaRPr sz="1200"/>
          </a:p>
        </p:txBody>
      </p:sp>
      <p:sp>
        <p:nvSpPr>
          <p:cNvPr id="131" name="TextBox 130"/>
          <p:cNvSpPr txBox="1"/>
          <p:nvPr/>
        </p:nvSpPr>
        <p:spPr>
          <a:xfrm>
            <a:off x="502920" y="1993392"/>
            <a:ext cx="149047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about </a:t>
            </a:r>
            <a:r>
              <a:rPr sz="28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$9.40</a:t>
            </a:r>
            <a:endParaRPr sz="1100"/>
          </a:p>
        </p:txBody>
      </p:sp>
      <p:sp>
        <p:nvSpPr>
          <p:cNvPr id="132" name="TextBox 131"/>
          <p:cNvSpPr txBox="1"/>
          <p:nvPr/>
        </p:nvSpPr>
        <p:spPr>
          <a:xfrm>
            <a:off x="502920" y="2505456"/>
            <a:ext cx="14904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month, baseline</a:t>
            </a:r>
            <a:endParaRPr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Cloud SQL db-f1-micro;</a:t>
            </a:r>
            <a:endParaRPr sz="95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Cloud Run scales to zero</a:t>
            </a:r>
            <a:endParaRPr sz="950"/>
          </a:p>
        </p:txBody>
      </p:sp>
      <p:cxnSp>
        <p:nvCxnSpPr>
          <p:cNvPr id="133" name="Connector 132"/>
          <p:cNvCxnSpPr/>
          <p:nvPr/>
        </p:nvCxnSpPr>
        <p:spPr>
          <a:xfrm>
            <a:off x="502920" y="3273552"/>
            <a:ext cx="14904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34" name="TextBox 133"/>
          <p:cNvSpPr txBox="1"/>
          <p:nvPr/>
        </p:nvSpPr>
        <p:spPr>
          <a:xfrm>
            <a:off x="502920" y="3383280"/>
            <a:ext cx="14904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$3.39</a:t>
            </a:r>
            <a:endParaRPr sz="1100"/>
          </a:p>
        </p:txBody>
      </p:sp>
      <p:sp>
        <p:nvSpPr>
          <p:cNvPr id="135" name="TextBox 134"/>
          <p:cNvSpPr txBox="1"/>
          <p:nvPr/>
        </p:nvSpPr>
        <p:spPr>
          <a:xfrm>
            <a:off x="502920" y="3858768"/>
            <a:ext cx="14904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total AI spend on production so far, over 151 AI decisions</a:t>
            </a:r>
            <a:endParaRPr sz="105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$2.29 of it was the live model checks</a:t>
            </a:r>
            <a:endParaRPr sz="950"/>
          </a:p>
        </p:txBody>
      </p:sp>
      <p:sp>
        <p:nvSpPr>
          <p:cNvPr id="136" name="Rounded Rectangle 135"/>
          <p:cNvSpPr/>
          <p:nvPr/>
        </p:nvSpPr>
        <p:spPr>
          <a:xfrm>
            <a:off x="2276856" y="1207008"/>
            <a:ext cx="3218688" cy="3730752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2423160" y="137160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0EDE4"/>
          </a:solidFill>
          <a:ln>
            <a:noFill/>
          </a:ln>
          <a:effectLst/>
        </p:spPr>
        <p:txBody>
          <a:bodyPr wrap="square" lIns="54864" tIns="0" rIns="54864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Measured</a:t>
            </a:r>
            <a:endParaRPr sz="900"/>
          </a:p>
        </p:txBody>
      </p:sp>
      <p:sp>
        <p:nvSpPr>
          <p:cNvPr id="138" name="TextBox 137"/>
          <p:cNvSpPr txBox="1"/>
          <p:nvPr/>
        </p:nvSpPr>
        <p:spPr>
          <a:xfrm>
            <a:off x="2423160" y="166420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AI cost per action</a:t>
            </a:r>
            <a:endParaRPr sz="1200"/>
          </a:p>
        </p:txBody>
      </p:sp>
      <p:sp>
        <p:nvSpPr>
          <p:cNvPr id="139" name="TextBox 138"/>
          <p:cNvSpPr txBox="1"/>
          <p:nvPr/>
        </p:nvSpPr>
        <p:spPr>
          <a:xfrm>
            <a:off x="2423160" y="19019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median, from the live AI decision log</a:t>
            </a:r>
            <a:endParaRPr sz="950"/>
          </a:p>
        </p:txBody>
      </p:sp>
      <p:cxnSp>
        <p:nvCxnSpPr>
          <p:cNvPr id="140" name="Connector 139"/>
          <p:cNvCxnSpPr/>
          <p:nvPr/>
        </p:nvCxnSpPr>
        <p:spPr>
          <a:xfrm>
            <a:off x="2423160" y="2176272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1" name="TextBox 140"/>
          <p:cNvSpPr txBox="1"/>
          <p:nvPr/>
        </p:nvSpPr>
        <p:spPr>
          <a:xfrm>
            <a:off x="2423160" y="2176272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Explanation: risk, X-ray, What-if</a:t>
            </a:r>
            <a:endParaRPr sz="950"/>
          </a:p>
        </p:txBody>
      </p:sp>
      <p:sp>
        <p:nvSpPr>
          <p:cNvPr id="142" name="TextBox 141"/>
          <p:cNvSpPr txBox="1"/>
          <p:nvPr/>
        </p:nvSpPr>
        <p:spPr>
          <a:xfrm>
            <a:off x="4370832" y="2176272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$0.0018–0.0025</a:t>
            </a:r>
            <a:endParaRPr sz="950"/>
          </a:p>
        </p:txBody>
      </p:sp>
      <p:cxnSp>
        <p:nvCxnSpPr>
          <p:cNvPr id="143" name="Connector 142"/>
          <p:cNvCxnSpPr/>
          <p:nvPr/>
        </p:nvCxnSpPr>
        <p:spPr>
          <a:xfrm>
            <a:off x="2423160" y="2400300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4" name="TextBox 143"/>
          <p:cNvSpPr txBox="1"/>
          <p:nvPr/>
        </p:nvSpPr>
        <p:spPr>
          <a:xfrm>
            <a:off x="2423160" y="2400300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Order explanation</a:t>
            </a:r>
            <a:endParaRPr sz="950"/>
          </a:p>
        </p:txBody>
      </p:sp>
      <p:sp>
        <p:nvSpPr>
          <p:cNvPr id="145" name="TextBox 144"/>
          <p:cNvSpPr txBox="1"/>
          <p:nvPr/>
        </p:nvSpPr>
        <p:spPr>
          <a:xfrm>
            <a:off x="4370832" y="2400300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$0.0021</a:t>
            </a:r>
            <a:endParaRPr sz="950"/>
          </a:p>
        </p:txBody>
      </p:sp>
      <p:cxnSp>
        <p:nvCxnSpPr>
          <p:cNvPr id="146" name="Connector 145"/>
          <p:cNvCxnSpPr/>
          <p:nvPr/>
        </p:nvCxnSpPr>
        <p:spPr>
          <a:xfrm>
            <a:off x="2423160" y="2624328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47" name="TextBox 146"/>
          <p:cNvSpPr txBox="1"/>
          <p:nvPr/>
        </p:nvSpPr>
        <p:spPr>
          <a:xfrm>
            <a:off x="2423160" y="2624328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Fund fit</a:t>
            </a:r>
            <a:endParaRPr sz="950"/>
          </a:p>
        </p:txBody>
      </p:sp>
      <p:sp>
        <p:nvSpPr>
          <p:cNvPr id="148" name="TextBox 147"/>
          <p:cNvSpPr txBox="1"/>
          <p:nvPr/>
        </p:nvSpPr>
        <p:spPr>
          <a:xfrm>
            <a:off x="4370832" y="2624328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$0.0023</a:t>
            </a:r>
            <a:endParaRPr sz="950"/>
          </a:p>
        </p:txBody>
      </p:sp>
      <p:cxnSp>
        <p:nvCxnSpPr>
          <p:cNvPr id="149" name="Connector 148"/>
          <p:cNvCxnSpPr/>
          <p:nvPr/>
        </p:nvCxnSpPr>
        <p:spPr>
          <a:xfrm>
            <a:off x="2423160" y="2848356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0" name="TextBox 149"/>
          <p:cNvSpPr txBox="1"/>
          <p:nvPr/>
        </p:nvSpPr>
        <p:spPr>
          <a:xfrm>
            <a:off x="2423160" y="2848356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Copilot question</a:t>
            </a:r>
            <a:endParaRPr sz="950"/>
          </a:p>
        </p:txBody>
      </p:sp>
      <p:sp>
        <p:nvSpPr>
          <p:cNvPr id="151" name="TextBox 150"/>
          <p:cNvSpPr txBox="1"/>
          <p:nvPr/>
        </p:nvSpPr>
        <p:spPr>
          <a:xfrm>
            <a:off x="4370832" y="2848356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$0.0026</a:t>
            </a:r>
            <a:endParaRPr sz="950"/>
          </a:p>
        </p:txBody>
      </p:sp>
      <p:cxnSp>
        <p:nvCxnSpPr>
          <p:cNvPr id="152" name="Connector 151"/>
          <p:cNvCxnSpPr/>
          <p:nvPr/>
        </p:nvCxnSpPr>
        <p:spPr>
          <a:xfrm>
            <a:off x="2423160" y="3072384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3" name="TextBox 152"/>
          <p:cNvSpPr txBox="1"/>
          <p:nvPr/>
        </p:nvSpPr>
        <p:spPr>
          <a:xfrm>
            <a:off x="2423160" y="3072384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Held-order review note (Pro)</a:t>
            </a:r>
            <a:endParaRPr sz="950"/>
          </a:p>
        </p:txBody>
      </p:sp>
      <p:sp>
        <p:nvSpPr>
          <p:cNvPr id="154" name="TextBox 153"/>
          <p:cNvSpPr txBox="1"/>
          <p:nvPr/>
        </p:nvSpPr>
        <p:spPr>
          <a:xfrm>
            <a:off x="4370832" y="3072384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$0.011</a:t>
            </a:r>
            <a:endParaRPr sz="950"/>
          </a:p>
        </p:txBody>
      </p:sp>
      <p:cxnSp>
        <p:nvCxnSpPr>
          <p:cNvPr id="155" name="Connector 154"/>
          <p:cNvCxnSpPr/>
          <p:nvPr/>
        </p:nvCxnSpPr>
        <p:spPr>
          <a:xfrm>
            <a:off x="2423160" y="3296412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6" name="TextBox 155"/>
          <p:cNvSpPr txBox="1"/>
          <p:nvPr/>
        </p:nvSpPr>
        <p:spPr>
          <a:xfrm>
            <a:off x="2423160" y="3296412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Call analysis</a:t>
            </a:r>
            <a:endParaRPr sz="950"/>
          </a:p>
        </p:txBody>
      </p:sp>
      <p:sp>
        <p:nvSpPr>
          <p:cNvPr id="157" name="TextBox 156"/>
          <p:cNvSpPr txBox="1"/>
          <p:nvPr/>
        </p:nvSpPr>
        <p:spPr>
          <a:xfrm>
            <a:off x="4370832" y="3296412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$0.014</a:t>
            </a:r>
            <a:endParaRPr sz="950"/>
          </a:p>
        </p:txBody>
      </p:sp>
      <p:cxnSp>
        <p:nvCxnSpPr>
          <p:cNvPr id="158" name="Connector 157"/>
          <p:cNvCxnSpPr/>
          <p:nvPr/>
        </p:nvCxnSpPr>
        <p:spPr>
          <a:xfrm>
            <a:off x="2423160" y="3520440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59" name="TextBox 158"/>
          <p:cNvSpPr txBox="1"/>
          <p:nvPr/>
        </p:nvSpPr>
        <p:spPr>
          <a:xfrm>
            <a:off x="2423160" y="3520440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AML case review (Pro)</a:t>
            </a:r>
            <a:endParaRPr sz="950"/>
          </a:p>
        </p:txBody>
      </p:sp>
      <p:sp>
        <p:nvSpPr>
          <p:cNvPr id="160" name="TextBox 159"/>
          <p:cNvSpPr txBox="1"/>
          <p:nvPr/>
        </p:nvSpPr>
        <p:spPr>
          <a:xfrm>
            <a:off x="4370832" y="3520440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$0.018</a:t>
            </a:r>
            <a:endParaRPr sz="950"/>
          </a:p>
        </p:txBody>
      </p:sp>
      <p:cxnSp>
        <p:nvCxnSpPr>
          <p:cNvPr id="161" name="Connector 160"/>
          <p:cNvCxnSpPr/>
          <p:nvPr/>
        </p:nvCxnSpPr>
        <p:spPr>
          <a:xfrm>
            <a:off x="2423160" y="3744468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2" name="TextBox 161"/>
          <p:cNvSpPr txBox="1"/>
          <p:nvPr/>
        </p:nvSpPr>
        <p:spPr>
          <a:xfrm>
            <a:off x="2423160" y="3744468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Proposal (Pro)</a:t>
            </a:r>
            <a:endParaRPr sz="950"/>
          </a:p>
        </p:txBody>
      </p:sp>
      <p:sp>
        <p:nvSpPr>
          <p:cNvPr id="163" name="TextBox 162"/>
          <p:cNvSpPr txBox="1"/>
          <p:nvPr/>
        </p:nvSpPr>
        <p:spPr>
          <a:xfrm>
            <a:off x="4370832" y="3744468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$0.028</a:t>
            </a:r>
            <a:endParaRPr sz="950"/>
          </a:p>
        </p:txBody>
      </p:sp>
      <p:cxnSp>
        <p:nvCxnSpPr>
          <p:cNvPr id="164" name="Connector 163"/>
          <p:cNvCxnSpPr/>
          <p:nvPr/>
        </p:nvCxnSpPr>
        <p:spPr>
          <a:xfrm>
            <a:off x="2423160" y="3968496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5" name="TextBox 164"/>
          <p:cNvSpPr txBox="1"/>
          <p:nvPr/>
        </p:nvSpPr>
        <p:spPr>
          <a:xfrm>
            <a:off x="2423160" y="3968496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Scenario grounding, Google Search</a:t>
            </a:r>
            <a:endParaRPr sz="950"/>
          </a:p>
        </p:txBody>
      </p:sp>
      <p:sp>
        <p:nvSpPr>
          <p:cNvPr id="166" name="TextBox 165"/>
          <p:cNvSpPr txBox="1"/>
          <p:nvPr/>
        </p:nvSpPr>
        <p:spPr>
          <a:xfrm>
            <a:off x="4370832" y="3968496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$0.0435</a:t>
            </a:r>
            <a:endParaRPr sz="950"/>
          </a:p>
        </p:txBody>
      </p:sp>
      <p:cxnSp>
        <p:nvCxnSpPr>
          <p:cNvPr id="167" name="Connector 166"/>
          <p:cNvCxnSpPr/>
          <p:nvPr/>
        </p:nvCxnSpPr>
        <p:spPr>
          <a:xfrm>
            <a:off x="2423160" y="4192524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68" name="TextBox 167"/>
          <p:cNvSpPr txBox="1"/>
          <p:nvPr/>
        </p:nvSpPr>
        <p:spPr>
          <a:xfrm>
            <a:off x="2423160" y="4192524"/>
            <a:ext cx="1947672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Document AI bank statement read</a:t>
            </a:r>
            <a:endParaRPr sz="950"/>
          </a:p>
        </p:txBody>
      </p:sp>
      <p:sp>
        <p:nvSpPr>
          <p:cNvPr id="169" name="TextBox 168"/>
          <p:cNvSpPr txBox="1"/>
          <p:nvPr/>
        </p:nvSpPr>
        <p:spPr>
          <a:xfrm>
            <a:off x="4370832" y="4192524"/>
            <a:ext cx="978408" cy="2240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$0.75</a:t>
            </a:r>
            <a:endParaRPr sz="950"/>
          </a:p>
        </p:txBody>
      </p:sp>
      <p:cxnSp>
        <p:nvCxnSpPr>
          <p:cNvPr id="170" name="Connector 169"/>
          <p:cNvCxnSpPr/>
          <p:nvPr/>
        </p:nvCxnSpPr>
        <p:spPr>
          <a:xfrm>
            <a:off x="2423160" y="4416552"/>
            <a:ext cx="2926080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71" name="TextBox 170"/>
          <p:cNvSpPr txBox="1"/>
          <p:nvPr/>
        </p:nvSpPr>
        <p:spPr>
          <a:xfrm>
            <a:off x="2423160" y="4471416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Pro = Gemini 3.1 Pro; the other Gemini rows use 3.8 Flash. Document AI is the list price per statement; reading the CSV avoids it.</a:t>
            </a:r>
            <a:endParaRPr sz="900"/>
          </a:p>
        </p:txBody>
      </p:sp>
      <p:sp>
        <p:nvSpPr>
          <p:cNvPr id="172" name="Rounded Rectangle 171"/>
          <p:cNvSpPr/>
          <p:nvPr/>
        </p:nvSpPr>
        <p:spPr>
          <a:xfrm>
            <a:off x="5632704" y="1207008"/>
            <a:ext cx="3154680" cy="3730752"/>
          </a:xfrm>
          <a:prstGeom prst="roundRect">
            <a:avLst>
              <a:gd name="adj" fmla="val 3478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779008" y="1371600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F6C62"/>
            </a:solidFill>
          </a:ln>
          <a:effectLst/>
        </p:spPr>
        <p:txBody>
          <a:bodyPr wrap="square" lIns="54864" tIns="0" rIns="54864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Estimate</a:t>
            </a:r>
            <a:endParaRPr sz="900"/>
          </a:p>
        </p:txBody>
      </p:sp>
      <p:sp>
        <p:nvSpPr>
          <p:cNvPr id="174" name="TextBox 173"/>
          <p:cNvSpPr txBox="1"/>
          <p:nvPr/>
        </p:nvSpPr>
        <p:spPr>
          <a:xfrm>
            <a:off x="5779008" y="1664208"/>
            <a:ext cx="28620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 firm with 10,000 clients</a:t>
            </a:r>
            <a:endParaRPr sz="1200"/>
          </a:p>
        </p:txBody>
      </p:sp>
      <p:sp>
        <p:nvSpPr>
          <p:cNvPr id="175" name="TextBox 174"/>
          <p:cNvSpPr txBox="1"/>
          <p:nvPr/>
        </p:nvSpPr>
        <p:spPr>
          <a:xfrm>
            <a:off x="5779008" y="1938528"/>
            <a:ext cx="28620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Assumed per client a month: 2 explanations, 1 Copilot question, 1 order explained; plus the firm-wide monthly volumes below.</a:t>
            </a:r>
            <a:endParaRPr sz="900"/>
          </a:p>
        </p:txBody>
      </p:sp>
      <p:sp>
        <p:nvSpPr>
          <p:cNvPr id="176" name="TextBox 175"/>
          <p:cNvSpPr txBox="1"/>
          <p:nvPr/>
        </p:nvSpPr>
        <p:spPr>
          <a:xfrm>
            <a:off x="5779008" y="2395728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Each month</a:t>
            </a:r>
            <a:endParaRPr sz="850"/>
          </a:p>
        </p:txBody>
      </p:sp>
      <p:sp>
        <p:nvSpPr>
          <p:cNvPr id="177" name="TextBox 176"/>
          <p:cNvSpPr txBox="1"/>
          <p:nvPr/>
        </p:nvSpPr>
        <p:spPr>
          <a:xfrm>
            <a:off x="7196328" y="2395728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× unit cost</a:t>
            </a:r>
            <a:endParaRPr sz="850"/>
          </a:p>
        </p:txBody>
      </p:sp>
      <p:sp>
        <p:nvSpPr>
          <p:cNvPr id="178" name="TextBox 177"/>
          <p:cNvSpPr txBox="1"/>
          <p:nvPr/>
        </p:nvSpPr>
        <p:spPr>
          <a:xfrm>
            <a:off x="8092440" y="2395728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6F6C62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= cost</a:t>
            </a:r>
            <a:endParaRPr sz="850"/>
          </a:p>
        </p:txBody>
      </p:sp>
      <p:cxnSp>
        <p:nvCxnSpPr>
          <p:cNvPr id="179" name="Connector 178"/>
          <p:cNvCxnSpPr/>
          <p:nvPr/>
        </p:nvCxnSpPr>
        <p:spPr>
          <a:xfrm>
            <a:off x="5779008" y="2583180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80" name="TextBox 179"/>
          <p:cNvSpPr txBox="1"/>
          <p:nvPr/>
        </p:nvSpPr>
        <p:spPr>
          <a:xfrm>
            <a:off x="5779008" y="2583180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20,000 explanations</a:t>
            </a:r>
            <a:endParaRPr sz="900"/>
          </a:p>
        </p:txBody>
      </p:sp>
      <p:sp>
        <p:nvSpPr>
          <p:cNvPr id="181" name="TextBox 180"/>
          <p:cNvSpPr txBox="1"/>
          <p:nvPr/>
        </p:nvSpPr>
        <p:spPr>
          <a:xfrm>
            <a:off x="7196328" y="2583180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$0.0018–0.0025</a:t>
            </a:r>
            <a:endParaRPr sz="900"/>
          </a:p>
        </p:txBody>
      </p:sp>
      <p:sp>
        <p:nvSpPr>
          <p:cNvPr id="182" name="TextBox 181"/>
          <p:cNvSpPr txBox="1"/>
          <p:nvPr/>
        </p:nvSpPr>
        <p:spPr>
          <a:xfrm>
            <a:off x="8092440" y="2583180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$36–50</a:t>
            </a:r>
            <a:endParaRPr sz="900"/>
          </a:p>
        </p:txBody>
      </p:sp>
      <p:cxnSp>
        <p:nvCxnSpPr>
          <p:cNvPr id="183" name="Connector 182"/>
          <p:cNvCxnSpPr/>
          <p:nvPr/>
        </p:nvCxnSpPr>
        <p:spPr>
          <a:xfrm>
            <a:off x="5779008" y="2770632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84" name="TextBox 183"/>
          <p:cNvSpPr txBox="1"/>
          <p:nvPr/>
        </p:nvSpPr>
        <p:spPr>
          <a:xfrm>
            <a:off x="5779008" y="2770632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10,000 Copilot questions</a:t>
            </a:r>
            <a:endParaRPr sz="900"/>
          </a:p>
        </p:txBody>
      </p:sp>
      <p:sp>
        <p:nvSpPr>
          <p:cNvPr id="185" name="TextBox 184"/>
          <p:cNvSpPr txBox="1"/>
          <p:nvPr/>
        </p:nvSpPr>
        <p:spPr>
          <a:xfrm>
            <a:off x="7196328" y="2770632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$0.0026</a:t>
            </a:r>
            <a:endParaRPr sz="900"/>
          </a:p>
        </p:txBody>
      </p:sp>
      <p:sp>
        <p:nvSpPr>
          <p:cNvPr id="186" name="TextBox 185"/>
          <p:cNvSpPr txBox="1"/>
          <p:nvPr/>
        </p:nvSpPr>
        <p:spPr>
          <a:xfrm>
            <a:off x="8092440" y="2770632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$26.00</a:t>
            </a:r>
            <a:endParaRPr sz="900"/>
          </a:p>
        </p:txBody>
      </p:sp>
      <p:cxnSp>
        <p:nvCxnSpPr>
          <p:cNvPr id="187" name="Connector 186"/>
          <p:cNvCxnSpPr/>
          <p:nvPr/>
        </p:nvCxnSpPr>
        <p:spPr>
          <a:xfrm>
            <a:off x="5779008" y="2958084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88" name="TextBox 187"/>
          <p:cNvSpPr txBox="1"/>
          <p:nvPr/>
        </p:nvSpPr>
        <p:spPr>
          <a:xfrm>
            <a:off x="5779008" y="2958084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10,000 orders explained</a:t>
            </a:r>
            <a:endParaRPr sz="900"/>
          </a:p>
        </p:txBody>
      </p:sp>
      <p:sp>
        <p:nvSpPr>
          <p:cNvPr id="189" name="TextBox 188"/>
          <p:cNvSpPr txBox="1"/>
          <p:nvPr/>
        </p:nvSpPr>
        <p:spPr>
          <a:xfrm>
            <a:off x="7196328" y="2958084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$0.0021</a:t>
            </a:r>
            <a:endParaRPr sz="900"/>
          </a:p>
        </p:txBody>
      </p:sp>
      <p:sp>
        <p:nvSpPr>
          <p:cNvPr id="190" name="TextBox 189"/>
          <p:cNvSpPr txBox="1"/>
          <p:nvPr/>
        </p:nvSpPr>
        <p:spPr>
          <a:xfrm>
            <a:off x="8092440" y="2958084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$21.00</a:t>
            </a:r>
            <a:endParaRPr sz="900"/>
          </a:p>
        </p:txBody>
      </p:sp>
      <p:cxnSp>
        <p:nvCxnSpPr>
          <p:cNvPr id="191" name="Connector 190"/>
          <p:cNvCxnSpPr/>
          <p:nvPr/>
        </p:nvCxnSpPr>
        <p:spPr>
          <a:xfrm>
            <a:off x="5779008" y="3145536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92" name="TextBox 191"/>
          <p:cNvSpPr txBox="1"/>
          <p:nvPr/>
        </p:nvSpPr>
        <p:spPr>
          <a:xfrm>
            <a:off x="5779008" y="3145536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300 AML case reviews</a:t>
            </a:r>
            <a:endParaRPr sz="900"/>
          </a:p>
        </p:txBody>
      </p:sp>
      <p:sp>
        <p:nvSpPr>
          <p:cNvPr id="193" name="TextBox 192"/>
          <p:cNvSpPr txBox="1"/>
          <p:nvPr/>
        </p:nvSpPr>
        <p:spPr>
          <a:xfrm>
            <a:off x="7196328" y="3145536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$0.018</a:t>
            </a:r>
            <a:endParaRPr sz="900"/>
          </a:p>
        </p:txBody>
      </p:sp>
      <p:sp>
        <p:nvSpPr>
          <p:cNvPr id="194" name="TextBox 193"/>
          <p:cNvSpPr txBox="1"/>
          <p:nvPr/>
        </p:nvSpPr>
        <p:spPr>
          <a:xfrm>
            <a:off x="8092440" y="3145536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$5.40</a:t>
            </a:r>
            <a:endParaRPr sz="900"/>
          </a:p>
        </p:txBody>
      </p:sp>
      <p:cxnSp>
        <p:nvCxnSpPr>
          <p:cNvPr id="195" name="Connector 194"/>
          <p:cNvCxnSpPr/>
          <p:nvPr/>
        </p:nvCxnSpPr>
        <p:spPr>
          <a:xfrm>
            <a:off x="5779008" y="3332988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196" name="TextBox 195"/>
          <p:cNvSpPr txBox="1"/>
          <p:nvPr/>
        </p:nvSpPr>
        <p:spPr>
          <a:xfrm>
            <a:off x="5779008" y="3332988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200 call analyses</a:t>
            </a:r>
            <a:endParaRPr sz="900"/>
          </a:p>
        </p:txBody>
      </p:sp>
      <p:sp>
        <p:nvSpPr>
          <p:cNvPr id="197" name="TextBox 196"/>
          <p:cNvSpPr txBox="1"/>
          <p:nvPr/>
        </p:nvSpPr>
        <p:spPr>
          <a:xfrm>
            <a:off x="7196328" y="3332988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$0.014</a:t>
            </a:r>
            <a:endParaRPr sz="900"/>
          </a:p>
        </p:txBody>
      </p:sp>
      <p:sp>
        <p:nvSpPr>
          <p:cNvPr id="198" name="TextBox 197"/>
          <p:cNvSpPr txBox="1"/>
          <p:nvPr/>
        </p:nvSpPr>
        <p:spPr>
          <a:xfrm>
            <a:off x="8092440" y="3332988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$2.80</a:t>
            </a:r>
            <a:endParaRPr sz="900"/>
          </a:p>
        </p:txBody>
      </p:sp>
      <p:cxnSp>
        <p:nvCxnSpPr>
          <p:cNvPr id="199" name="Connector 198"/>
          <p:cNvCxnSpPr/>
          <p:nvPr/>
        </p:nvCxnSpPr>
        <p:spPr>
          <a:xfrm>
            <a:off x="5779008" y="3520440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200" name="TextBox 199"/>
          <p:cNvSpPr txBox="1"/>
          <p:nvPr/>
        </p:nvSpPr>
        <p:spPr>
          <a:xfrm>
            <a:off x="5779008" y="3520440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100 proposals</a:t>
            </a:r>
            <a:endParaRPr sz="900"/>
          </a:p>
        </p:txBody>
      </p:sp>
      <p:sp>
        <p:nvSpPr>
          <p:cNvPr id="201" name="TextBox 200"/>
          <p:cNvSpPr txBox="1"/>
          <p:nvPr/>
        </p:nvSpPr>
        <p:spPr>
          <a:xfrm>
            <a:off x="7196328" y="3520440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$0.028</a:t>
            </a:r>
            <a:endParaRPr sz="900"/>
          </a:p>
        </p:txBody>
      </p:sp>
      <p:sp>
        <p:nvSpPr>
          <p:cNvPr id="202" name="TextBox 201"/>
          <p:cNvSpPr txBox="1"/>
          <p:nvPr/>
        </p:nvSpPr>
        <p:spPr>
          <a:xfrm>
            <a:off x="8092440" y="3520440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$2.80</a:t>
            </a:r>
            <a:endParaRPr sz="900"/>
          </a:p>
        </p:txBody>
      </p:sp>
      <p:cxnSp>
        <p:nvCxnSpPr>
          <p:cNvPr id="203" name="Connector 202"/>
          <p:cNvCxnSpPr/>
          <p:nvPr/>
        </p:nvCxnSpPr>
        <p:spPr>
          <a:xfrm>
            <a:off x="5779008" y="3707892"/>
            <a:ext cx="2862072" cy="0"/>
          </a:xfrm>
          <a:prstGeom prst="line">
            <a:avLst/>
          </a:prstGeom>
          <a:ln w="9525">
            <a:solidFill>
              <a:srgbClr val="EBEAE4"/>
            </a:solidFill>
          </a:ln>
        </p:spPr>
      </p:cxnSp>
      <p:sp>
        <p:nvSpPr>
          <p:cNvPr id="204" name="TextBox 203"/>
          <p:cNvSpPr txBox="1"/>
          <p:nvPr/>
        </p:nvSpPr>
        <p:spPr>
          <a:xfrm>
            <a:off x="5779008" y="3707892"/>
            <a:ext cx="141732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30 statement reads</a:t>
            </a:r>
            <a:endParaRPr sz="900"/>
          </a:p>
        </p:txBody>
      </p:sp>
      <p:sp>
        <p:nvSpPr>
          <p:cNvPr id="205" name="TextBox 204"/>
          <p:cNvSpPr txBox="1"/>
          <p:nvPr/>
        </p:nvSpPr>
        <p:spPr>
          <a:xfrm>
            <a:off x="7196328" y="3707892"/>
            <a:ext cx="896112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$0.75</a:t>
            </a:r>
            <a:endParaRPr sz="900"/>
          </a:p>
        </p:txBody>
      </p:sp>
      <p:sp>
        <p:nvSpPr>
          <p:cNvPr id="206" name="TextBox 205"/>
          <p:cNvSpPr txBox="1"/>
          <p:nvPr/>
        </p:nvSpPr>
        <p:spPr>
          <a:xfrm>
            <a:off x="8092440" y="3707892"/>
            <a:ext cx="548640" cy="187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$22.50</a:t>
            </a:r>
            <a:endParaRPr sz="900"/>
          </a:p>
        </p:txBody>
      </p:sp>
      <p:cxnSp>
        <p:nvCxnSpPr>
          <p:cNvPr id="207" name="Connector 206"/>
          <p:cNvCxnSpPr/>
          <p:nvPr/>
        </p:nvCxnSpPr>
        <p:spPr>
          <a:xfrm>
            <a:off x="5779008" y="3895344"/>
            <a:ext cx="2862072" cy="0"/>
          </a:xfrm>
          <a:prstGeom prst="line">
            <a:avLst/>
          </a:prstGeom>
          <a:ln w="9525">
            <a:solidFill>
              <a:srgbClr val="6F6C62"/>
            </a:solidFill>
          </a:ln>
        </p:spPr>
      </p:cxnSp>
      <p:sp>
        <p:nvSpPr>
          <p:cNvPr id="208" name="TextBox 207"/>
          <p:cNvSpPr txBox="1"/>
          <p:nvPr/>
        </p:nvSpPr>
        <p:spPr>
          <a:xfrm>
            <a:off x="5779008" y="3941064"/>
            <a:ext cx="1837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AI, a month</a:t>
            </a:r>
            <a:endParaRPr sz="950"/>
          </a:p>
        </p:txBody>
      </p:sp>
      <p:sp>
        <p:nvSpPr>
          <p:cNvPr id="209" name="TextBox 208"/>
          <p:cNvSpPr txBox="1"/>
          <p:nvPr/>
        </p:nvSpPr>
        <p:spPr>
          <a:xfrm>
            <a:off x="7616952" y="3941064"/>
            <a:ext cx="10241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$116.50–130.50</a:t>
            </a:r>
            <a:endParaRPr sz="950"/>
          </a:p>
        </p:txBody>
      </p:sp>
      <p:sp>
        <p:nvSpPr>
          <p:cNvPr id="210" name="TextBox 209"/>
          <p:cNvSpPr txBox="1"/>
          <p:nvPr/>
        </p:nvSpPr>
        <p:spPr>
          <a:xfrm>
            <a:off x="5779008" y="4151376"/>
            <a:ext cx="18379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Cloud Run + Cloud SQL, production tier</a:t>
            </a:r>
            <a:endParaRPr sz="950"/>
          </a:p>
        </p:txBody>
      </p:sp>
      <p:sp>
        <p:nvSpPr>
          <p:cNvPr id="211" name="TextBox 210"/>
          <p:cNvSpPr txBox="1"/>
          <p:nvPr/>
        </p:nvSpPr>
        <p:spPr>
          <a:xfrm>
            <a:off x="7616952" y="4151376"/>
            <a:ext cx="10241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about $300–600</a:t>
            </a:r>
            <a:endParaRPr sz="950"/>
          </a:p>
        </p:txBody>
      </p:sp>
      <p:sp>
        <p:nvSpPr>
          <p:cNvPr id="212" name="TextBox 211"/>
          <p:cNvSpPr txBox="1"/>
          <p:nvPr/>
        </p:nvSpPr>
        <p:spPr>
          <a:xfrm>
            <a:off x="5779008" y="4462272"/>
            <a:ext cx="1837944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All in, a month</a:t>
            </a:r>
            <a:endParaRPr sz="950"/>
          </a:p>
        </p:txBody>
      </p:sp>
      <p:sp>
        <p:nvSpPr>
          <p:cNvPr id="213" name="TextBox 212"/>
          <p:cNvSpPr txBox="1"/>
          <p:nvPr/>
        </p:nvSpPr>
        <p:spPr>
          <a:xfrm>
            <a:off x="7616952" y="4462272"/>
            <a:ext cx="10241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about $417–731</a:t>
            </a:r>
            <a:endParaRPr sz="950"/>
          </a:p>
        </p:txBody>
      </p:sp>
      <p:sp>
        <p:nvSpPr>
          <p:cNvPr id="214" name="TextBox 213"/>
          <p:cNvSpPr txBox="1"/>
          <p:nvPr/>
        </p:nvSpPr>
        <p:spPr>
          <a:xfrm>
            <a:off x="5779008" y="4690872"/>
            <a:ext cx="286207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That is about 4–7 cents per client a month.</a:t>
            </a:r>
            <a:endParaRPr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Snapshots of the prototype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136" name="Picture 135" descr="daniel-ruth-call-flags.png"/>
          <p:cNvPicPr>
            <a:picLocks noChangeAspect="1"/>
          </p:cNvPicPr>
          <p:nvPr/>
        </p:nvPicPr>
        <p:blipFill>
          <a:blip r:embed="rId3"/>
          <a:srcRect l="9750" t="33440" r="2500" b="14260"/>
          <a:stretch>
            <a:fillRect/>
          </a:stretch>
        </p:blipFill>
        <p:spPr>
          <a:xfrm>
            <a:off x="356616" y="1207008"/>
            <a:ext cx="4123944" cy="1536192"/>
          </a:xfrm>
          <a:prstGeom prst="roundRect">
            <a:avLst>
              <a:gd name="adj" fmla="val 3571"/>
            </a:avLst>
          </a:prstGeom>
          <a:ln w="9525">
            <a:solidFill>
              <a:srgbClr val="EBEAE4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74904" y="2779776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Call intelligence.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Ruth Alvarez's call, 9 timestamped conduct flags</a:t>
            </a:r>
            <a:endParaRPr sz="1000"/>
          </a:p>
        </p:txBody>
      </p:sp>
      <p:pic>
        <p:nvPicPr>
          <p:cNvPr id="138" name="Picture 137" descr="priya-nvda-guardian-top.png"/>
          <p:cNvPicPr>
            <a:picLocks noChangeAspect="1"/>
          </p:cNvPicPr>
          <p:nvPr/>
        </p:nvPicPr>
        <p:blipFill>
          <a:blip r:embed="rId4"/>
          <a:srcRect l="8750" t="13200" r="1750" b="33457"/>
          <a:stretch>
            <a:fillRect/>
          </a:stretch>
        </p:blipFill>
        <p:spPr>
          <a:xfrm>
            <a:off x="4663440" y="1207008"/>
            <a:ext cx="4123944" cy="1536192"/>
          </a:xfrm>
          <a:prstGeom prst="roundRect">
            <a:avLst>
              <a:gd name="adj" fmla="val 3571"/>
            </a:avLst>
          </a:prstGeom>
          <a:ln w="9525">
            <a:solidFill>
              <a:srgbClr val="EBEAE4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81728" y="2779776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Pre-trade Guardian.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Priya's 60 NVDA order, held for advisor review</a:t>
            </a:r>
            <a:endParaRPr sz="1000"/>
          </a:p>
        </p:txBody>
      </p:sp>
      <p:pic>
        <p:nvPicPr>
          <p:cNvPr id="140" name="Picture 139" descr="omar-rings-graph.png"/>
          <p:cNvPicPr>
            <a:picLocks noChangeAspect="1"/>
          </p:cNvPicPr>
          <p:nvPr/>
        </p:nvPicPr>
        <p:blipFill>
          <a:blip r:embed="rId5"/>
          <a:srcRect l="8750" t="15680" r="1750" b="30977"/>
          <a:stretch>
            <a:fillRect/>
          </a:stretch>
        </p:blipFill>
        <p:spPr>
          <a:xfrm>
            <a:off x="356616" y="3127248"/>
            <a:ext cx="4123944" cy="1536192"/>
          </a:xfrm>
          <a:prstGeom prst="roundRect">
            <a:avLst>
              <a:gd name="adj" fmla="val 3571"/>
            </a:avLst>
          </a:prstGeom>
          <a:ln w="9525">
            <a:solidFill>
              <a:srgbClr val="EBEAE4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74904" y="4700016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Fraud ring radar.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Four leads and a client share one device</a:t>
            </a:r>
            <a:endParaRPr sz="1000"/>
          </a:p>
        </p:txBody>
      </p:sp>
      <p:pic>
        <p:nvPicPr>
          <p:cNvPr id="142" name="Picture 141" descr="omar-models-inventory.png"/>
          <p:cNvPicPr>
            <a:picLocks noChangeAspect="1"/>
          </p:cNvPicPr>
          <p:nvPr/>
        </p:nvPicPr>
        <p:blipFill>
          <a:blip r:embed="rId6"/>
          <a:srcRect l="8750" t="8000" r="1750" b="38657"/>
          <a:stretch>
            <a:fillRect/>
          </a:stretch>
        </p:blipFill>
        <p:spPr>
          <a:xfrm>
            <a:off x="4663440" y="3127248"/>
            <a:ext cx="4123944" cy="1536192"/>
          </a:xfrm>
          <a:prstGeom prst="roundRect">
            <a:avLst>
              <a:gd name="adj" fmla="val 3571"/>
            </a:avLst>
          </a:prstGeom>
          <a:ln w="9525">
            <a:solidFill>
              <a:srgbClr val="EBEAE4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681728" y="4700016"/>
            <a:ext cx="412394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Model Risk Office.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18 models with risk tier, owner and evidence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2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Prototype Performance report/Benchmarking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56616" y="117043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Measured on 18 Oct 2026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on the live deployment, unless noted</a:t>
            </a:r>
            <a:endParaRPr sz="1000"/>
          </a:p>
        </p:txBody>
      </p:sp>
      <p:sp>
        <p:nvSpPr>
          <p:cNvPr id="145" name="Rounded Rectangle 144"/>
          <p:cNvSpPr/>
          <p:nvPr/>
        </p:nvSpPr>
        <p:spPr>
          <a:xfrm>
            <a:off x="356616" y="146304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5488" y="153619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667</a:t>
            </a:r>
            <a:endParaRPr sz="1800"/>
          </a:p>
        </p:txBody>
      </p:sp>
      <p:sp>
        <p:nvSpPr>
          <p:cNvPr id="147" name="TextBox 146"/>
          <p:cNvSpPr txBox="1"/>
          <p:nvPr/>
        </p:nvSpPr>
        <p:spPr>
          <a:xfrm>
            <a:off x="475488" y="188366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API tests passing (1 skipped), and 199 web unit tests</a:t>
            </a:r>
            <a:endParaRPr sz="900"/>
          </a:p>
        </p:txBody>
      </p:sp>
      <p:sp>
        <p:nvSpPr>
          <p:cNvPr id="148" name="Rounded Rectangle 147"/>
          <p:cNvSpPr/>
          <p:nvPr/>
        </p:nvSpPr>
        <p:spPr>
          <a:xfrm>
            <a:off x="2209800" y="146304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28672" y="153619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37/37</a:t>
            </a:r>
            <a:endParaRPr sz="1800"/>
          </a:p>
        </p:txBody>
      </p:sp>
      <p:sp>
        <p:nvSpPr>
          <p:cNvPr id="150" name="TextBox 149"/>
          <p:cNvSpPr txBox="1"/>
          <p:nvPr/>
        </p:nvSpPr>
        <p:spPr>
          <a:xfrm>
            <a:off x="2328672" y="188366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live model-check suites passing on real Gemini (latest run, $0.35)</a:t>
            </a:r>
            <a:endParaRPr sz="900"/>
          </a:p>
        </p:txBody>
      </p:sp>
      <p:sp>
        <p:nvSpPr>
          <p:cNvPr id="151" name="Rounded Rectangle 150"/>
          <p:cNvSpPr/>
          <p:nvPr/>
        </p:nvSpPr>
        <p:spPr>
          <a:xfrm>
            <a:off x="4062984" y="146304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81856" y="153619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29/29</a:t>
            </a:r>
            <a:endParaRPr sz="1800"/>
          </a:p>
        </p:txBody>
      </p:sp>
      <p:sp>
        <p:nvSpPr>
          <p:cNvPr id="153" name="TextBox 152"/>
          <p:cNvSpPr txBox="1"/>
          <p:nvPr/>
        </p:nvSpPr>
        <p:spPr>
          <a:xfrm>
            <a:off x="4181856" y="188366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fresh live red-team attacks resisted; 12/12 fixed attack cases; AML scenarios caught 4/4 mutations</a:t>
            </a:r>
            <a:endParaRPr sz="900"/>
          </a:p>
        </p:txBody>
      </p:sp>
      <p:sp>
        <p:nvSpPr>
          <p:cNvPr id="154" name="Rounded Rectangle 153"/>
          <p:cNvSpPr/>
          <p:nvPr/>
        </p:nvSpPr>
        <p:spPr>
          <a:xfrm>
            <a:off x="356616" y="265176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5488" y="272491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18/18</a:t>
            </a:r>
            <a:endParaRPr sz="1800"/>
          </a:p>
        </p:txBody>
      </p:sp>
      <p:sp>
        <p:nvSpPr>
          <p:cNvPr id="156" name="TextBox 155"/>
          <p:cNvSpPr txBox="1"/>
          <p:nvPr/>
        </p:nvSpPr>
        <p:spPr>
          <a:xfrm>
            <a:off x="475488" y="307238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fair-lending name pairs read the same (names hidden from Gemini)</a:t>
            </a:r>
            <a:endParaRPr sz="900"/>
          </a:p>
        </p:txBody>
      </p:sp>
      <p:sp>
        <p:nvSpPr>
          <p:cNvPr id="157" name="Rounded Rectangle 156"/>
          <p:cNvSpPr/>
          <p:nvPr/>
        </p:nvSpPr>
        <p:spPr>
          <a:xfrm>
            <a:off x="2209800" y="265176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328672" y="272491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AUC 0.76</a:t>
            </a:r>
            <a:endParaRPr sz="1800"/>
          </a:p>
        </p:txBody>
      </p:sp>
      <p:sp>
        <p:nvSpPr>
          <p:cNvPr id="159" name="TextBox 158"/>
          <p:cNvSpPr txBox="1"/>
          <p:nvPr/>
        </p:nvSpPr>
        <p:spPr>
          <a:xfrm>
            <a:off x="2328672" y="307238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Lead Score on 5,000 held-out leads vs a 0.75 gate (0.79 on BigQuery's split); 8/8 twin pairs ordered correctly</a:t>
            </a:r>
            <a:endParaRPr sz="900"/>
          </a:p>
        </p:txBody>
      </p:sp>
      <p:sp>
        <p:nvSpPr>
          <p:cNvPr id="160" name="Rounded Rectangle 159"/>
          <p:cNvSpPr/>
          <p:nvPr/>
        </p:nvSpPr>
        <p:spPr>
          <a:xfrm>
            <a:off x="4062984" y="265176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181856" y="272491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5/5</a:t>
            </a:r>
            <a:endParaRPr sz="1800"/>
          </a:p>
        </p:txBody>
      </p:sp>
      <p:sp>
        <p:nvSpPr>
          <p:cNvPr id="162" name="TextBox 161"/>
          <p:cNvSpPr txBox="1"/>
          <p:nvPr/>
        </p:nvSpPr>
        <p:spPr>
          <a:xfrm>
            <a:off x="4181856" y="307238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case review golden set on Gemini Pro; the Flash challenger also 5/5, at $0.010</a:t>
            </a:r>
            <a:endParaRPr sz="900"/>
          </a:p>
        </p:txBody>
      </p:sp>
      <p:sp>
        <p:nvSpPr>
          <p:cNvPr id="163" name="Rounded Rectangle 162"/>
          <p:cNvSpPr/>
          <p:nvPr/>
        </p:nvSpPr>
        <p:spPr>
          <a:xfrm>
            <a:off x="356616" y="384048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75488" y="391363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100%</a:t>
            </a:r>
            <a:endParaRPr sz="1800"/>
          </a:p>
        </p:txBody>
      </p:sp>
      <p:sp>
        <p:nvSpPr>
          <p:cNvPr id="165" name="TextBox 164"/>
          <p:cNvSpPr txBox="1"/>
          <p:nvPr/>
        </p:nvSpPr>
        <p:spPr>
          <a:xfrm>
            <a:off x="475488" y="426110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reconciliation agent precision and recall, vs 62% recall for the scorer alone</a:t>
            </a:r>
            <a:endParaRPr sz="900"/>
          </a:p>
        </p:txBody>
      </p:sp>
      <p:sp>
        <p:nvSpPr>
          <p:cNvPr id="166" name="Rounded Rectangle 165"/>
          <p:cNvSpPr/>
          <p:nvPr/>
        </p:nvSpPr>
        <p:spPr>
          <a:xfrm>
            <a:off x="2209800" y="384048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328672" y="391363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0.55 s</a:t>
            </a:r>
            <a:endParaRPr sz="1800"/>
          </a:p>
        </p:txBody>
      </p:sp>
      <p:sp>
        <p:nvSpPr>
          <p:cNvPr id="168" name="TextBox 167"/>
          <p:cNvSpPr txBox="1"/>
          <p:nvPr/>
        </p:nvSpPr>
        <p:spPr>
          <a:xfrm>
            <a:off x="2328672" y="426110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What-if Monte Carlo: 10,000 paths over 15 years</a:t>
            </a:r>
            <a:endParaRPr sz="900"/>
          </a:p>
        </p:txBody>
      </p:sp>
      <p:sp>
        <p:nvSpPr>
          <p:cNvPr id="169" name="Rounded Rectangle 168"/>
          <p:cNvSpPr/>
          <p:nvPr/>
        </p:nvSpPr>
        <p:spPr>
          <a:xfrm>
            <a:off x="4062984" y="3840480"/>
            <a:ext cx="176174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181856" y="3913632"/>
            <a:ext cx="15240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1.9 s</a:t>
            </a:r>
            <a:endParaRPr sz="1800"/>
          </a:p>
        </p:txBody>
      </p:sp>
      <p:sp>
        <p:nvSpPr>
          <p:cNvPr id="171" name="TextBox 170"/>
          <p:cNvSpPr txBox="1"/>
          <p:nvPr/>
        </p:nvSpPr>
        <p:spPr>
          <a:xfrm>
            <a:off x="4181856" y="4261104"/>
            <a:ext cx="15605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median full page load; API median response 357 ms</a:t>
            </a:r>
            <a:endParaRPr sz="900"/>
          </a:p>
        </p:txBody>
      </p:sp>
      <p:sp>
        <p:nvSpPr>
          <p:cNvPr id="172" name="Rounded Rectangle 171"/>
          <p:cNvSpPr/>
          <p:nvPr/>
        </p:nvSpPr>
        <p:spPr>
          <a:xfrm>
            <a:off x="5971032" y="1207008"/>
            <a:ext cx="2816352" cy="373075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117336" y="1316736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Median AI latency, seconds</a:t>
            </a:r>
            <a:endParaRPr sz="1150"/>
          </a:p>
        </p:txBody>
      </p:sp>
      <p:sp>
        <p:nvSpPr>
          <p:cNvPr id="174" name="TextBox 173"/>
          <p:cNvSpPr txBox="1"/>
          <p:nvPr/>
        </p:nvSpPr>
        <p:spPr>
          <a:xfrm>
            <a:off x="6117336" y="155448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>
                <a:solidFill>
                  <a:srgbClr val="4B44A6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Darker: Gemini 3.1 Pro</a:t>
            </a:r>
            <a:r>
              <a:rPr sz="8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   lighter: Gemini 3.8 Flash</a:t>
            </a:r>
            <a:endParaRPr sz="850"/>
          </a:p>
        </p:txBody>
      </p:sp>
      <p:graphicFrame>
        <p:nvGraphicFramePr>
          <p:cNvPr id="175" name="Chart 174"/>
          <p:cNvGraphicFramePr>
            <a:graphicFrameLocks noGrp="1"/>
          </p:cNvGraphicFramePr>
          <p:nvPr/>
        </p:nvGraphicFramePr>
        <p:xfrm>
          <a:off x="6007608" y="1773936"/>
          <a:ext cx="2706624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Additional Details/Future Development (if any)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56616" y="1207008"/>
            <a:ext cx="2602992" cy="3182112"/>
          </a:xfrm>
          <a:prstGeom prst="roundRect">
            <a:avLst>
              <a:gd name="adj" fmla="val 4215"/>
            </a:avLst>
          </a:prstGeom>
          <a:solidFill>
            <a:srgbClr val="E0ED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9496" y="1335024"/>
            <a:ext cx="22372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Now</a:t>
            </a:r>
            <a:r>
              <a:rPr sz="9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  live today</a:t>
            </a:r>
            <a:endParaRPr sz="1100"/>
          </a:p>
        </p:txBody>
      </p:sp>
      <p:sp>
        <p:nvSpPr>
          <p:cNvPr id="154" name="Oval 153"/>
          <p:cNvSpPr/>
          <p:nvPr/>
        </p:nvSpPr>
        <p:spPr>
          <a:xfrm>
            <a:off x="612648" y="1792224"/>
            <a:ext cx="91440" cy="91440"/>
          </a:xfrm>
          <a:prstGeom prst="ellipse">
            <a:avLst/>
          </a:prstGeom>
          <a:solidFill>
            <a:srgbClr val="3F81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68680" y="1737360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Acquire, Invest, Trade and Operate live, with Govern across all four</a:t>
            </a:r>
            <a:endParaRPr sz="1050"/>
          </a:p>
        </p:txBody>
      </p:sp>
      <p:sp>
        <p:nvSpPr>
          <p:cNvPr id="156" name="Oval 155"/>
          <p:cNvSpPr/>
          <p:nvPr/>
        </p:nvSpPr>
        <p:spPr>
          <a:xfrm>
            <a:off x="612648" y="2408987"/>
            <a:ext cx="91440" cy="91440"/>
          </a:xfrm>
          <a:prstGeom prst="ellipse">
            <a:avLst/>
          </a:prstGeom>
          <a:solidFill>
            <a:srgbClr val="3F81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68680" y="2354123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On Cloud Run and Firebase, with Gemini 3.1 Pro and 3.8 Flash</a:t>
            </a:r>
            <a:endParaRPr sz="1050"/>
          </a:p>
        </p:txBody>
      </p:sp>
      <p:sp>
        <p:nvSpPr>
          <p:cNvPr id="158" name="Oval 157"/>
          <p:cNvSpPr/>
          <p:nvPr/>
        </p:nvSpPr>
        <p:spPr>
          <a:xfrm>
            <a:off x="612648" y="3025750"/>
            <a:ext cx="91440" cy="91440"/>
          </a:xfrm>
          <a:prstGeom prst="ellipse">
            <a:avLst/>
          </a:prstGeom>
          <a:solidFill>
            <a:srgbClr val="3F81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68680" y="2970886"/>
            <a:ext cx="1926336" cy="350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18 models under the Model Risk Office</a:t>
            </a:r>
            <a:endParaRPr sz="1050"/>
          </a:p>
        </p:txBody>
      </p:sp>
      <p:sp>
        <p:nvSpPr>
          <p:cNvPr id="160" name="Oval 159"/>
          <p:cNvSpPr/>
          <p:nvPr/>
        </p:nvSpPr>
        <p:spPr>
          <a:xfrm>
            <a:off x="612648" y="3485693"/>
            <a:ext cx="91440" cy="91440"/>
          </a:xfrm>
          <a:prstGeom prst="ellipse">
            <a:avLst/>
          </a:prstGeom>
          <a:solidFill>
            <a:srgbClr val="3F81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68680" y="3430829"/>
            <a:ext cx="1926336" cy="350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Paper trading at live US market prices</a:t>
            </a:r>
            <a:endParaRPr sz="1050"/>
          </a:p>
        </p:txBody>
      </p:sp>
      <p:cxnSp>
        <p:nvCxnSpPr>
          <p:cNvPr id="162" name="Connector 161"/>
          <p:cNvCxnSpPr/>
          <p:nvPr/>
        </p:nvCxnSpPr>
        <p:spPr>
          <a:xfrm>
            <a:off x="3014472" y="1472184"/>
            <a:ext cx="201168" cy="0"/>
          </a:xfrm>
          <a:prstGeom prst="line">
            <a:avLst/>
          </a:prstGeom>
          <a:ln w="15240">
            <a:solidFill>
              <a:srgbClr val="6F6C62"/>
            </a:solidFill>
            <a:tailEnd type="triangle" w="med" len="med"/>
          </a:ln>
        </p:spPr>
      </p:cxnSp>
      <p:sp>
        <p:nvSpPr>
          <p:cNvPr id="163" name="Rounded Rectangle 162"/>
          <p:cNvSpPr/>
          <p:nvPr/>
        </p:nvSpPr>
        <p:spPr>
          <a:xfrm>
            <a:off x="3270504" y="1207008"/>
            <a:ext cx="2602992" cy="3182112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53384" y="1335024"/>
            <a:ext cx="22372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Next</a:t>
            </a:r>
            <a:endParaRPr sz="1100"/>
          </a:p>
        </p:txBody>
      </p:sp>
      <p:sp>
        <p:nvSpPr>
          <p:cNvPr id="165" name="Oval 164"/>
          <p:cNvSpPr/>
          <p:nvPr/>
        </p:nvSpPr>
        <p:spPr>
          <a:xfrm>
            <a:off x="3453384" y="1719072"/>
            <a:ext cx="237744" cy="237744"/>
          </a:xfrm>
          <a:prstGeom prst="ellipse">
            <a:avLst/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4-Point Star 165"/>
          <p:cNvSpPr/>
          <p:nvPr/>
        </p:nvSpPr>
        <p:spPr>
          <a:xfrm>
            <a:off x="3505688" y="1771376"/>
            <a:ext cx="133137" cy="133137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82568" y="1737360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 Gemini Live voice advisor: clients talk to Atrium inside the same guardrails</a:t>
            </a:r>
            <a:endParaRPr sz="1050"/>
          </a:p>
        </p:txBody>
      </p:sp>
      <p:sp>
        <p:nvSpPr>
          <p:cNvPr id="168" name="Oval 167"/>
          <p:cNvSpPr/>
          <p:nvPr/>
        </p:nvSpPr>
        <p:spPr>
          <a:xfrm>
            <a:off x="3453384" y="2335835"/>
            <a:ext cx="237744" cy="237744"/>
          </a:xfrm>
          <a:prstGeom prst="ellipse">
            <a:avLst/>
          </a:prstGeom>
          <a:solidFill>
            <a:srgbClr val="FCF3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534217" y="2416668"/>
            <a:ext cx="76078" cy="76078"/>
          </a:xfrm>
          <a:prstGeom prst="ellipse">
            <a:avLst/>
          </a:prstGeom>
          <a:solidFill>
            <a:srgbClr val="E2B2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782568" y="2354123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Push alerts through Firebase Cloud Messaging: the live inbox on every phone</a:t>
            </a:r>
            <a:endParaRPr sz="1050"/>
          </a:p>
        </p:txBody>
      </p:sp>
      <p:sp>
        <p:nvSpPr>
          <p:cNvPr id="171" name="Oval 170"/>
          <p:cNvSpPr/>
          <p:nvPr/>
        </p:nvSpPr>
        <p:spPr>
          <a:xfrm>
            <a:off x="3453384" y="2952598"/>
            <a:ext cx="237744" cy="237744"/>
          </a:xfrm>
          <a:prstGeom prst="ellipse">
            <a:avLst/>
          </a:prstGeom>
          <a:solidFill>
            <a:srgbClr val="FD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V="1">
            <a:off x="3529652" y="3034191"/>
            <a:ext cx="42604" cy="63906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173" name="Connector 172"/>
          <p:cNvCxnSpPr/>
          <p:nvPr/>
        </p:nvCxnSpPr>
        <p:spPr>
          <a:xfrm>
            <a:off x="3572256" y="3034191"/>
            <a:ext cx="42604" cy="63906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cxnSp>
        <p:nvCxnSpPr>
          <p:cNvPr id="174" name="Connector 173"/>
          <p:cNvCxnSpPr/>
          <p:nvPr/>
        </p:nvCxnSpPr>
        <p:spPr>
          <a:xfrm>
            <a:off x="3529652" y="3098097"/>
            <a:ext cx="85208" cy="0"/>
          </a:xfrm>
          <a:prstGeom prst="line">
            <a:avLst/>
          </a:prstGeom>
          <a:ln w="13970">
            <a:solidFill>
              <a:srgbClr val="B23F2E"/>
            </a:solidFill>
          </a:ln>
        </p:spPr>
      </p:cxnSp>
      <p:sp>
        <p:nvSpPr>
          <p:cNvPr id="175" name="Oval 174"/>
          <p:cNvSpPr/>
          <p:nvPr/>
        </p:nvSpPr>
        <p:spPr>
          <a:xfrm>
            <a:off x="3512345" y="3080789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554948" y="3016884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597552" y="3080789"/>
            <a:ext cx="34616" cy="34616"/>
          </a:xfrm>
          <a:prstGeom prst="ellipse">
            <a:avLst/>
          </a:prstGeom>
          <a:solidFill>
            <a:srgbClr val="B23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782568" y="2970886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Fraud signals shared across firms in BigQuery data clean rooms, never the client data</a:t>
            </a:r>
            <a:endParaRPr sz="1050"/>
          </a:p>
        </p:txBody>
      </p:sp>
      <p:sp>
        <p:nvSpPr>
          <p:cNvPr id="179" name="Oval 178"/>
          <p:cNvSpPr/>
          <p:nvPr/>
        </p:nvSpPr>
        <p:spPr>
          <a:xfrm>
            <a:off x="3453384" y="3569360"/>
            <a:ext cx="237744" cy="237744"/>
          </a:xfrm>
          <a:prstGeom prst="ellipse">
            <a:avLst/>
          </a:prstGeom>
          <a:solidFill>
            <a:srgbClr val="F2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4-Point Star 179"/>
          <p:cNvSpPr/>
          <p:nvPr/>
        </p:nvSpPr>
        <p:spPr>
          <a:xfrm>
            <a:off x="3505688" y="3621664"/>
            <a:ext cx="133137" cy="133137"/>
          </a:xfrm>
          <a:prstGeom prst="star4">
            <a:avLst>
              <a:gd name="adj" fmla="val 16000"/>
            </a:avLst>
          </a:prstGeom>
          <a:solidFill>
            <a:srgbClr val="7C74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782568" y="3587648"/>
            <a:ext cx="1926336" cy="350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Agents that keep every KYC file current</a:t>
            </a:r>
            <a:endParaRPr sz="1050"/>
          </a:p>
        </p:txBody>
      </p:sp>
      <p:cxnSp>
        <p:nvCxnSpPr>
          <p:cNvPr id="182" name="Connector 181"/>
          <p:cNvCxnSpPr/>
          <p:nvPr/>
        </p:nvCxnSpPr>
        <p:spPr>
          <a:xfrm>
            <a:off x="5928360" y="1472184"/>
            <a:ext cx="201168" cy="0"/>
          </a:xfrm>
          <a:prstGeom prst="line">
            <a:avLst/>
          </a:prstGeom>
          <a:ln w="15240">
            <a:solidFill>
              <a:srgbClr val="6F6C62"/>
            </a:solidFill>
            <a:tailEnd type="triangle" w="med" len="med"/>
          </a:ln>
        </p:spPr>
      </p:cxnSp>
      <p:sp>
        <p:nvSpPr>
          <p:cNvPr id="183" name="Rounded Rectangle 182"/>
          <p:cNvSpPr/>
          <p:nvPr/>
        </p:nvSpPr>
        <p:spPr>
          <a:xfrm>
            <a:off x="6184392" y="1207008"/>
            <a:ext cx="2602992" cy="3182112"/>
          </a:xfrm>
          <a:prstGeom prst="roundRect">
            <a:avLst>
              <a:gd name="adj" fmla="val 4215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367272" y="1335024"/>
            <a:ext cx="22372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Later</a:t>
            </a:r>
            <a:endParaRPr sz="1100"/>
          </a:p>
        </p:txBody>
      </p:sp>
      <p:sp>
        <p:nvSpPr>
          <p:cNvPr id="185" name="Oval 184"/>
          <p:cNvSpPr/>
          <p:nvPr/>
        </p:nvSpPr>
        <p:spPr>
          <a:xfrm>
            <a:off x="6440424" y="1792224"/>
            <a:ext cx="91440" cy="91440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696456" y="1737360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Real brokerage execution (Alpaca live / FIX) and more markets</a:t>
            </a:r>
            <a:endParaRPr sz="1050"/>
          </a:p>
        </p:txBody>
      </p:sp>
      <p:sp>
        <p:nvSpPr>
          <p:cNvPr id="187" name="Oval 186"/>
          <p:cNvSpPr/>
          <p:nvPr/>
        </p:nvSpPr>
        <p:spPr>
          <a:xfrm>
            <a:off x="6440424" y="2408987"/>
            <a:ext cx="91440" cy="91440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696456" y="2354123"/>
            <a:ext cx="1926336" cy="5070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Agent-to-agent (A2A) links to custodians and fund administrators</a:t>
            </a:r>
            <a:endParaRPr sz="1050"/>
          </a:p>
        </p:txBody>
      </p:sp>
      <p:sp>
        <p:nvSpPr>
          <p:cNvPr id="189" name="Oval 188"/>
          <p:cNvSpPr/>
          <p:nvPr/>
        </p:nvSpPr>
        <p:spPr>
          <a:xfrm>
            <a:off x="6440424" y="3025750"/>
            <a:ext cx="91440" cy="91440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696456" y="2970886"/>
            <a:ext cx="1926336" cy="350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Continuous model monitoring with Vertex AI</a:t>
            </a:r>
            <a:endParaRPr sz="1050"/>
          </a:p>
        </p:txBody>
      </p:sp>
      <p:sp>
        <p:nvSpPr>
          <p:cNvPr id="191" name="Oval 190"/>
          <p:cNvSpPr/>
          <p:nvPr/>
        </p:nvSpPr>
        <p:spPr>
          <a:xfrm>
            <a:off x="6440424" y="3485693"/>
            <a:ext cx="91440" cy="91440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696456" y="3430829"/>
            <a:ext cx="1926336" cy="1933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Sanctions and PEP screening</a:t>
            </a:r>
            <a:endParaRPr sz="1050"/>
          </a:p>
        </p:txBody>
      </p:sp>
      <p:sp>
        <p:nvSpPr>
          <p:cNvPr id="193" name="Oval 192"/>
          <p:cNvSpPr/>
          <p:nvPr/>
        </p:nvSpPr>
        <p:spPr>
          <a:xfrm>
            <a:off x="6440424" y="3788816"/>
            <a:ext cx="91440" cy="91440"/>
          </a:xfrm>
          <a:prstGeom prst="ellipse">
            <a:avLst/>
          </a:prstGeom>
          <a:solidFill>
            <a:srgbClr val="6F6C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696456" y="3733952"/>
            <a:ext cx="1926336" cy="350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Client statements and tax reports</a:t>
            </a:r>
            <a:endParaRPr sz="1050"/>
          </a:p>
        </p:txBody>
      </p:sp>
      <p:sp>
        <p:nvSpPr>
          <p:cNvPr id="195" name="Rounded Rectangle 194"/>
          <p:cNvSpPr/>
          <p:nvPr/>
        </p:nvSpPr>
        <p:spPr>
          <a:xfrm>
            <a:off x="356616" y="4517136"/>
            <a:ext cx="8430768" cy="4206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484632" y="4608576"/>
            <a:ext cx="237744" cy="237744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" name="Freeform 0"/>
          <p:cNvSpPr/>
          <p:nvPr/>
        </p:nvSpPr>
        <p:spPr>
          <a:xfrm>
            <a:off x="550249" y="4690170"/>
            <a:ext cx="106510" cy="79882"/>
          </a:xfrm>
          <a:custGeom>
            <a:avLst/>
            <a:gdLst/>
            <a:ahLst/>
            <a:cxnLst/>
            <a:rect l="l" t="t" r="r" b="b"/>
            <a:pathLst>
              <a:path w="106510" h="79882">
                <a:moveTo>
                  <a:pt x="0" y="43935"/>
                </a:moveTo>
                <a:lnTo>
                  <a:pt x="39941" y="79882"/>
                </a:lnTo>
                <a:lnTo>
                  <a:pt x="106510" y="0"/>
                </a:lnTo>
              </a:path>
            </a:pathLst>
          </a:custGeom>
          <a:noFill/>
          <a:ln w="20320">
            <a:solidFill>
              <a:srgbClr val="3F81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32104" y="4517136"/>
            <a:ext cx="779068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Responsible AI. </a:t>
            </a:r>
            <a:r>
              <a:rPr sz="105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People decide every consequential action; every AI decision is logged with its model, prompt version, cost and the person who acted.</a:t>
            </a:r>
            <a:endParaRPr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484632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Provide links to your: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800"/>
              </a:spcAft>
              <a:buSzPts val="2000"/>
              <a:buFont typeface="Google Sans Flex" panose="020B0503030502040204"/>
              <a:buChar char="•"/>
            </a:pPr>
            <a: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GitHub Public Repository</a:t>
            </a:r>
            <a:b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r>
              <a:rPr sz="11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  <a:hlinkClick r:id="rId3"/>
              </a:rPr>
              <a:t>https://github.com/XoAuraHiru/ai-builder-2026</a:t>
            </a:r>
            <a:endParaRPr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800"/>
              </a:spcAft>
              <a:buSzPts val="2000"/>
              <a:buFont typeface="Google Sans Flex" panose="020B0503030502040204"/>
              <a:buChar char="•"/>
            </a:pPr>
            <a: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Demo Video Link (3 Minutes)</a:t>
            </a:r>
            <a:b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r>
              <a:rPr sz="11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Demo video (3:45): </a:t>
            </a:r>
            <a:r>
              <a:rPr sz="1150" b="0" i="0">
                <a:solidFill>
                  <a:srgbClr val="B23F2E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VIDEO_SHORT</a:t>
            </a:r>
            <a:br>
              <a:rPr sz="1150" b="0" i="0">
                <a:solidFill>
                  <a:srgbClr val="B23F2E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r>
              <a:rPr sz="11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Extended walkthrough (about 9 min): </a:t>
            </a:r>
            <a:r>
              <a:rPr sz="1150" b="0" i="0">
                <a:solidFill>
                  <a:srgbClr val="B23F2E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VIDEO_LONG</a:t>
            </a:r>
            <a:endParaRPr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800"/>
              </a:spcAft>
              <a:buSzPts val="2000"/>
              <a:buFont typeface="Google Sans Flex" panose="020B0503030502040204"/>
              <a:buChar char="•"/>
            </a:pPr>
            <a: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Final Product Link</a:t>
            </a:r>
            <a:br>
              <a:rPr lang="en-GB" sz="14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</a:br>
            <a:r>
              <a:rPr sz="11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  <a:hlinkClick r:id="rId4"/>
              </a:rPr>
              <a:t>https://atrium-cup-2026.web.app</a:t>
            </a:r>
            <a:br>
              <a:rPr sz="11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  <a:hlinkClick r:id="rId4"/>
              </a:rPr>
            </a:br>
            <a:r>
              <a:rPr sz="11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also </a:t>
            </a:r>
            <a:r>
              <a:rPr sz="1150" b="0" i="0">
                <a:solidFill>
                  <a:srgbClr val="3F8160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  <a:hlinkClick r:id="rId5"/>
              </a:rPr>
              <a:t>https://atrium-web-tvflgkcdoa-uc.a.run.app</a:t>
            </a:r>
            <a:endParaRPr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160" name="Picture 159" descr="public-login.png"/>
          <p:cNvPicPr>
            <a:picLocks noChangeAspect="1"/>
          </p:cNvPicPr>
          <p:nvPr/>
        </p:nvPicPr>
        <p:blipFill>
          <a:blip r:embed="rId6"/>
          <a:srcRect l="9000" t="960" r="9000" b="25732"/>
          <a:stretch>
            <a:fillRect/>
          </a:stretch>
        </p:blipFill>
        <p:spPr>
          <a:xfrm>
            <a:off x="5285232" y="1207008"/>
            <a:ext cx="3502152" cy="1956816"/>
          </a:xfrm>
          <a:prstGeom prst="roundRect">
            <a:avLst>
              <a:gd name="adj" fmla="val 2803"/>
            </a:avLst>
          </a:prstGeom>
          <a:ln w="9525">
            <a:solidFill>
              <a:srgbClr val="EBEAE4"/>
            </a:solidFill>
          </a:ln>
        </p:spPr>
      </p:pic>
      <p:sp>
        <p:nvSpPr>
          <p:cNvPr id="161" name="Rounded Rectangle 160"/>
          <p:cNvSpPr/>
          <p:nvPr/>
        </p:nvSpPr>
        <p:spPr>
          <a:xfrm>
            <a:off x="356616" y="3346704"/>
            <a:ext cx="8430768" cy="1591056"/>
          </a:xfrm>
          <a:prstGeom prst="roundRect">
            <a:avLst>
              <a:gd name="adj" fmla="val 6896"/>
            </a:avLst>
          </a:prstGeom>
          <a:solidFill>
            <a:srgbClr val="FAFAF7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57784" y="35112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How to try it</a:t>
            </a:r>
            <a:endParaRPr sz="1300"/>
          </a:p>
        </p:txBody>
      </p:sp>
      <p:sp>
        <p:nvSpPr>
          <p:cNvPr id="163" name="TextBox 162"/>
          <p:cNvSpPr txBox="1"/>
          <p:nvPr/>
        </p:nvSpPr>
        <p:spPr>
          <a:xfrm>
            <a:off x="557784" y="3822192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Open the link and choose a person. No password.</a:t>
            </a:r>
            <a:endParaRPr sz="11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Every person, account and trade is synthetic; trading uses paper money at real US market prices.</a:t>
            </a:r>
            <a:endParaRPr sz="950"/>
          </a:p>
        </p:txBody>
      </p:sp>
      <p:sp>
        <p:nvSpPr>
          <p:cNvPr id="164" name="Rounded Rectangle 163"/>
          <p:cNvSpPr/>
          <p:nvPr/>
        </p:nvSpPr>
        <p:spPr>
          <a:xfrm>
            <a:off x="3511296" y="3584448"/>
            <a:ext cx="1191006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57600" y="3730752"/>
            <a:ext cx="365760" cy="365760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PR</a:t>
            </a:r>
            <a:endParaRPr sz="1000"/>
          </a:p>
        </p:txBody>
      </p:sp>
      <p:sp>
        <p:nvSpPr>
          <p:cNvPr id="166" name="TextBox 165"/>
          <p:cNvSpPr txBox="1"/>
          <p:nvPr/>
        </p:nvSpPr>
        <p:spPr>
          <a:xfrm>
            <a:off x="3657600" y="4187952"/>
            <a:ext cx="91668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Priya</a:t>
            </a:r>
            <a:endParaRPr sz="1200"/>
          </a:p>
        </p:txBody>
      </p:sp>
      <p:sp>
        <p:nvSpPr>
          <p:cNvPr id="167" name="TextBox 166"/>
          <p:cNvSpPr txBox="1"/>
          <p:nvPr/>
        </p:nvSpPr>
        <p:spPr>
          <a:xfrm>
            <a:off x="3657600" y="4407408"/>
            <a:ext cx="916686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investor</a:t>
            </a:r>
            <a:endParaRPr sz="1000"/>
          </a:p>
        </p:txBody>
      </p:sp>
      <p:sp>
        <p:nvSpPr>
          <p:cNvPr id="168" name="Rounded Rectangle 167"/>
          <p:cNvSpPr/>
          <p:nvPr/>
        </p:nvSpPr>
        <p:spPr>
          <a:xfrm>
            <a:off x="4812030" y="3584448"/>
            <a:ext cx="1191006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958334" y="3730752"/>
            <a:ext cx="365760" cy="365760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DO</a:t>
            </a:r>
            <a:endParaRPr sz="1000"/>
          </a:p>
        </p:txBody>
      </p:sp>
      <p:sp>
        <p:nvSpPr>
          <p:cNvPr id="170" name="TextBox 169"/>
          <p:cNvSpPr txBox="1"/>
          <p:nvPr/>
        </p:nvSpPr>
        <p:spPr>
          <a:xfrm>
            <a:off x="4958334" y="4187952"/>
            <a:ext cx="91668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Daniel</a:t>
            </a:r>
            <a:endParaRPr sz="1200"/>
          </a:p>
        </p:txBody>
      </p:sp>
      <p:sp>
        <p:nvSpPr>
          <p:cNvPr id="171" name="TextBox 170"/>
          <p:cNvSpPr txBox="1"/>
          <p:nvPr/>
        </p:nvSpPr>
        <p:spPr>
          <a:xfrm>
            <a:off x="4958334" y="4407408"/>
            <a:ext cx="916686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advisor</a:t>
            </a:r>
            <a:endParaRPr sz="1000"/>
          </a:p>
        </p:txBody>
      </p:sp>
      <p:sp>
        <p:nvSpPr>
          <p:cNvPr id="172" name="Rounded Rectangle 171"/>
          <p:cNvSpPr/>
          <p:nvPr/>
        </p:nvSpPr>
        <p:spPr>
          <a:xfrm>
            <a:off x="6112764" y="3584448"/>
            <a:ext cx="1191006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259068" y="3730752"/>
            <a:ext cx="365760" cy="365760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MT</a:t>
            </a:r>
            <a:endParaRPr sz="1000"/>
          </a:p>
        </p:txBody>
      </p:sp>
      <p:sp>
        <p:nvSpPr>
          <p:cNvPr id="174" name="Oval 173"/>
          <p:cNvSpPr/>
          <p:nvPr/>
        </p:nvSpPr>
        <p:spPr>
          <a:xfrm>
            <a:off x="6551676" y="3730752"/>
            <a:ext cx="365760" cy="365760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SO</a:t>
            </a:r>
            <a:endParaRPr sz="1000"/>
          </a:p>
        </p:txBody>
      </p:sp>
      <p:sp>
        <p:nvSpPr>
          <p:cNvPr id="175" name="TextBox 174"/>
          <p:cNvSpPr txBox="1"/>
          <p:nvPr/>
        </p:nvSpPr>
        <p:spPr>
          <a:xfrm>
            <a:off x="6259068" y="4187952"/>
            <a:ext cx="91668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Mei or Sam</a:t>
            </a:r>
            <a:endParaRPr sz="1200"/>
          </a:p>
        </p:txBody>
      </p:sp>
      <p:sp>
        <p:nvSpPr>
          <p:cNvPr id="176" name="TextBox 175"/>
          <p:cNvSpPr txBox="1"/>
          <p:nvPr/>
        </p:nvSpPr>
        <p:spPr>
          <a:xfrm>
            <a:off x="6259068" y="4407408"/>
            <a:ext cx="916686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operations</a:t>
            </a:r>
            <a:endParaRPr sz="1000"/>
          </a:p>
        </p:txBody>
      </p:sp>
      <p:sp>
        <p:nvSpPr>
          <p:cNvPr id="177" name="Rounded Rectangle 176"/>
          <p:cNvSpPr/>
          <p:nvPr/>
        </p:nvSpPr>
        <p:spPr>
          <a:xfrm>
            <a:off x="7413498" y="3584448"/>
            <a:ext cx="1191006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59802" y="3730752"/>
            <a:ext cx="365760" cy="365760"/>
          </a:xfrm>
          <a:prstGeom prst="ellipse">
            <a:avLst/>
          </a:prstGeom>
          <a:solidFill>
            <a:srgbClr val="E0EDE4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OH</a:t>
            </a:r>
            <a:endParaRPr sz="1000"/>
          </a:p>
        </p:txBody>
      </p:sp>
      <p:sp>
        <p:nvSpPr>
          <p:cNvPr id="179" name="TextBox 178"/>
          <p:cNvSpPr txBox="1"/>
          <p:nvPr/>
        </p:nvSpPr>
        <p:spPr>
          <a:xfrm>
            <a:off x="7559802" y="4187952"/>
            <a:ext cx="91668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C1B17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Omar</a:t>
            </a:r>
            <a:endParaRPr sz="1200"/>
          </a:p>
        </p:txBody>
      </p:sp>
      <p:sp>
        <p:nvSpPr>
          <p:cNvPr id="180" name="TextBox 179"/>
          <p:cNvSpPr txBox="1"/>
          <p:nvPr/>
        </p:nvSpPr>
        <p:spPr>
          <a:xfrm>
            <a:off x="7559802" y="4407408"/>
            <a:ext cx="916686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compliance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How Atrium keeps the AI honest</a:t>
            </a:r>
            <a:endParaRPr sz="1600">
              <a:latin typeface="Google Sans Flex Medium" panose="020B0503030502040204"/>
              <a:ea typeface="Google Sans Flex Medium" panose="020B0503030502040204"/>
              <a:cs typeface="Google Sans Flex Medium" panose="020B0503030502040204"/>
              <a:sym typeface="Google Sans Flex Medium" panose="020B0503030502040204"/>
            </a:endParaRPr>
          </a:p>
        </p:txBody>
      </p:sp>
      <p:pic>
        <p:nvPicPr>
          <p:cNvPr id="168" name="Picture 167" descr="atrium-ai-trust.png"/>
          <p:cNvPicPr>
            <a:picLocks noChangeAspect="1"/>
          </p:cNvPicPr>
          <p:nvPr/>
        </p:nvPicPr>
        <p:blipFill>
          <a:blip r:embed="rId3"/>
          <a:srcRect l="951" t="2185" r="1005" b="2372"/>
          <a:stretch>
            <a:fillRect/>
          </a:stretch>
        </p:blipFill>
        <p:spPr>
          <a:xfrm>
            <a:off x="356616" y="1225296"/>
            <a:ext cx="6144768" cy="260259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402336" y="3919326"/>
            <a:ext cx="6053328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 Medium" panose="020B0503030502040204"/>
                <a:ea typeface="Google Sans Flex Medium" panose="020B0503030502040204"/>
                <a:cs typeface="Google Sans Flex Medium" panose="020B0503030502040204"/>
                <a:sym typeface="Google Sans Flex Medium" panose="020B0503030502040204"/>
              </a:rPr>
              <a:t>Read left to right: </a:t>
            </a:r>
            <a:r>
              <a:rPr sz="1000" b="0" i="0">
                <a:solidFill>
                  <a:srgbClr val="6F6C62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grounded inputs, Gemini, deterministic checks, a person decides, the decision log; the Model Risk Office watches the whole loop.</a:t>
            </a:r>
            <a:endParaRPr sz="1000"/>
          </a:p>
        </p:txBody>
      </p:sp>
      <p:pic>
        <p:nvPicPr>
          <p:cNvPr id="170" name="Picture 169" descr="omar-decision-log-table.png"/>
          <p:cNvPicPr>
            <a:picLocks noChangeAspect="1"/>
          </p:cNvPicPr>
          <p:nvPr/>
        </p:nvPicPr>
        <p:blipFill>
          <a:blip r:embed="rId4"/>
          <a:srcRect l="9000" t="12000" r="1750" b="73824"/>
          <a:stretch>
            <a:fillRect/>
          </a:stretch>
        </p:blipFill>
        <p:spPr>
          <a:xfrm>
            <a:off x="356616" y="4327758"/>
            <a:ext cx="6144768" cy="610002"/>
          </a:xfrm>
          <a:prstGeom prst="roundRect">
            <a:avLst>
              <a:gd name="adj" fmla="val 7495"/>
            </a:avLst>
          </a:prstGeom>
          <a:ln w="9525">
            <a:solidFill>
              <a:srgbClr val="EBEAE4"/>
            </a:solidFill>
          </a:ln>
        </p:spPr>
      </p:pic>
      <p:sp>
        <p:nvSpPr>
          <p:cNvPr id="171" name="Rounded Rectangle 170"/>
          <p:cNvSpPr/>
          <p:nvPr/>
        </p:nvSpPr>
        <p:spPr>
          <a:xfrm>
            <a:off x="6684264" y="1225296"/>
            <a:ext cx="2103120" cy="1164336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830568" y="1353312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4B44A6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37/37</a:t>
            </a:r>
            <a:endParaRPr sz="2200"/>
          </a:p>
        </p:txBody>
      </p:sp>
      <p:sp>
        <p:nvSpPr>
          <p:cNvPr id="173" name="TextBox 172"/>
          <p:cNvSpPr txBox="1"/>
          <p:nvPr/>
        </p:nvSpPr>
        <p:spPr>
          <a:xfrm>
            <a:off x="6830568" y="1773936"/>
            <a:ext cx="1847088" cy="542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live model-check suites pass on real Gemini, run after each deploy</a:t>
            </a:r>
            <a:endParaRPr sz="1000"/>
          </a:p>
        </p:txBody>
      </p:sp>
      <p:sp>
        <p:nvSpPr>
          <p:cNvPr id="174" name="Rounded Rectangle 173"/>
          <p:cNvSpPr/>
          <p:nvPr/>
        </p:nvSpPr>
        <p:spPr>
          <a:xfrm>
            <a:off x="6684264" y="2499360"/>
            <a:ext cx="2103120" cy="1164336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830568" y="2627376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B23F2E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29/29</a:t>
            </a:r>
            <a:endParaRPr sz="2200"/>
          </a:p>
        </p:txBody>
      </p:sp>
      <p:sp>
        <p:nvSpPr>
          <p:cNvPr id="176" name="TextBox 175"/>
          <p:cNvSpPr txBox="1"/>
          <p:nvPr/>
        </p:nvSpPr>
        <p:spPr>
          <a:xfrm>
            <a:off x="6830568" y="3048000"/>
            <a:ext cx="1847088" cy="542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fresh red-team attacks resisted; a tripwire stops steered text from closing an alert</a:t>
            </a:r>
            <a:endParaRPr sz="1000"/>
          </a:p>
        </p:txBody>
      </p:sp>
      <p:sp>
        <p:nvSpPr>
          <p:cNvPr id="177" name="Rounded Rectangle 176"/>
          <p:cNvSpPr/>
          <p:nvPr/>
        </p:nvSpPr>
        <p:spPr>
          <a:xfrm>
            <a:off x="6684264" y="3773424"/>
            <a:ext cx="2103120" cy="1164336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12700">
            <a:solidFill>
              <a:srgbClr val="EBEA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830568" y="3901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3F8160"/>
                </a:solidFill>
                <a:latin typeface="Google Sans Flex SemiBold" panose="020B0503030502040204"/>
                <a:ea typeface="Google Sans Flex SemiBold" panose="020B0503030502040204"/>
                <a:cs typeface="Google Sans Flex SemiBold" panose="020B0503030502040204"/>
                <a:sym typeface="Google Sans Flex SemiBold" panose="020B0503030502040204"/>
              </a:rPr>
              <a:t>151</a:t>
            </a:r>
            <a:endParaRPr sz="2200"/>
          </a:p>
        </p:txBody>
      </p:sp>
      <p:sp>
        <p:nvSpPr>
          <p:cNvPr id="179" name="TextBox 178"/>
          <p:cNvSpPr txBox="1"/>
          <p:nvPr/>
        </p:nvSpPr>
        <p:spPr>
          <a:xfrm>
            <a:off x="6830568" y="4322064"/>
            <a:ext cx="1847088" cy="542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C1B17"/>
                </a:solidFill>
                <a:latin typeface="Google Sans Flex" panose="020B0503030502040204"/>
                <a:ea typeface="Google Sans Flex" panose="020B0503030502040204"/>
                <a:cs typeface="Google Sans Flex" panose="020B0503030502040204"/>
                <a:sym typeface="Google Sans Flex" panose="020B0503030502040204"/>
              </a:rPr>
              <a:t>AI decisions on production so far, each logged with its model and cost: $3.39 in all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1"/>
          <a:srcRect b="98001"/>
          <a:stretch>
            <a:fillRect/>
          </a:stretch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3F8160"/>
      </a:hlink>
      <a:folHlink>
        <a:srgbClr val="3F81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10001</Words>
  <Application>WPS Presentation</Application>
  <PresentationFormat/>
  <Paragraphs>540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Google Sans Flex SemiBold</vt:lpstr>
      <vt:lpstr>Google Sans Flex Medium</vt:lpstr>
      <vt:lpstr>Google Sans Flex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HIRUN</cp:lastModifiedBy>
  <cp:revision>1</cp:revision>
  <dcterms:created xsi:type="dcterms:W3CDTF">2026-10-18T07:41:16Z</dcterms:created>
  <dcterms:modified xsi:type="dcterms:W3CDTF">2026-10-18T07:41:16Z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8A859D451F73454B9991CD11FE2F9AA6_13</vt:lpwstr>
  </property>
  <property fmtid="{D5CDD505-2E9C-101B-9397-08002B2CF9AE}" pid="3" name="KSOProductBuildVer">
    <vt:lpwstr>1033-12.1.0.29162</vt:lpwstr>
  </property>
</Properties>
</file>